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Ассалому алайкум, муҳтарам аъзои ҳакамон. Ман лоиҳаи «ОБҲУШ»-ро муаррифӣ мекунам. Он ба сокинони Тоҷикистон ёрӣ медиҳад, ки маълумоти обу ҳаво ва обро ба қарори фаҳмо табдил диҳанд: боғро чӣ гуна об диҳанд, кай дар берун кор кунанд ва дар хона чӣ гуна обро сарфа намоянд. Лоиҳа ба номинатсияи «Зеҳни сунъӣ ва таҳлили рақамӣ» пешниҳод мешавад.</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Донистани ҳарорати ҳаво ҳанӯз ба маънои донистани амал нест. Боғбон мепурсад: имрӯз ба қитъаи ман чӣ қадар об лозим? Корманд мехоҳад соатҳои муносибро барои кори берунӣ интихоб кунад. Оила бошад, фаҳмидан мехоҳад, ки кадом одат обро бештар сарф мекунад. Масъалаи асосӣ ҳамин аст: маълумот бояд ба вазифаи мушаххаси инсон пайваст шавад.</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Дар ОБҲУШ корбар аввал шаҳр ва сипас вазифаи худро интихоб мекунад. Барои обу ҳаво дувоздаҳ шаҳр ва имкони интихоби ҷойгиршавӣ пешбинӣ шудаанд. Шароити ҳозира аз пешгӯии тамоми рӯз ҷудо нишон дода мешавад; манбаъ ва вақти маълумот низ дида мешаванд. Баъд система аз рӯйи вазифаи интихобшуда ҳисоб ё нақша пешниҳод мекунад. Интерфейс ба тоҷикӣ ва русӣ кор мекунад.</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Боғбон масоҳати қитъа, навъи зироат ва усули обёриро ворид мекунад. Система бухоршавии ҳисобӣ, коэффисиенти зироат, бориши пешбинишуда ва самаранокии обёриро ба назар мегирад. Дар натиҷа, талаботи тахминии обро бо литр нишон медиҳад. Агар маълумоти обу ҳаво кӯҳна ё нопурра бошад, ҳисоб пешниҳод намешавад. Намии воқеии хок ва марҳилаи рушди растаниро ҳоло худи боғбон бояд ба назар гирад.</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Дар бахши кори берунӣ корбар рӯз ва давомнокии корро интихоб мекунад. Система соатҳои пайдарпайи рӯзонаро аз рӯйи ҳарорат, шамол, бориш ва шароити осмон месанҷад. Соатҳои мувофиқро метавон ҳамчун файл ба тақвим ворид кард. Ин ба банақшагирии кор ёрӣ медиҳад. Талаботи кори мушаххас ва дастурҳои расмии бехатарӣ ҳамоно бояд риоя шаванд.</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Як мисоли ҳисобиро мебинем. Дар оилаи чорнафара ҳар кас ҳашт дақиқа душ мегирад ва ҷараёни об нӯҳ литр дар як дақиқа аст. Агар вақти душ то панҷ дақиқа кам шавад, фарқият саду ҳашт литр дар як рӯз мешавад. Дар сӣ рӯз ин се ҳазору дусаду чил литр аст. Ин натиҷаи формула бо параметрҳои интихобшуда мебошад; сарфаи воқеиро баъд бо ҳисобкунак санҷидан лозим аст.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Лоиҳа бахши таҳқиқотии обу дарёҳоро ҳам дорад. Дар он ҳавзаи Вахш, релеф, бориш, пешгӯии маҷро ва сенарияҳои истифодаи об барои неругоҳу обёрӣ дида мешаванд. Ҳангоми илова кардани борон ба сенария, тағйирот аз пешгӯии воқеӣ ҷудо нишон дода мешавад. Ҳоло система омилҳои боришро барои таваҷҷуҳ нишон медиҳад. Барои пешгӯии сели мушаххас ченкуниҳои маҳаллӣ, таърихи ҳодисаҳо ва санҷиши мутахассисон заруранд.</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Дар система вазифаҳо ҷудо шудаанд. Маълумоти обу ҳаво аз Open-Meteo, маҷрои моделии дарё аз GloFAS ва релеф аз манбаъҳои кушода гирифта мешавад. Модели Ridge аз таърихи маҷро меомӯзад ва дар чордаҳ рӯзи ҷудошуда санҷида мешавад. Ёвари забонӣ натиҷаҳоро бо назардошти ҷой, рӯз ва вазифаи корбар шарҳ медиҳад. Рақамҳои дақиқи обёриву сарфа бо формула ҳисоб мешаванд, то ҷавоб санҷишпазир бошад.</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Интерфейси корӣ барои компютер ва телефон омода шудааст. Се вазифаи асосӣ, ду забон, интихоби шаҳр, нигоҳдории нақша ва бахши обу дарёҳо мавҷуданд. Барои версияи нав сию ду санҷиши ҳисобу API ва шонздаҳ сенарияи браузерӣ гузаронида шуд. Ҳоло дар намоиши зинда масоҳати боғ ё вақти душро тағйир медиҳам, то бинед, ки натиҷа аз маълумоти корбар вобаста аст.</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Қадами навбатӣ озмоиш бо оилаҳо ва боғбонон аст: сарфи пешу пасро чен мекунем, фаҳмо будани тавсияҳоро месанҷем ва ҳисобҳоро бо шароити маҳаллӣ мувофиқ месозем. Бо пайдо шудани шарикон метавон датчикҳо ва маълумоти гидропостҳоро пайваст кард. Ҳадафи ОБҲУШ ин аст, ки дониш дар бораи об ба амали муфид табдил ёбад. Ташаккур барои таваҷҷуҳ!</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hyperlink" Target="https://obihush.sit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C31"/>
        </a:solidFill>
        <a:effectLst/>
      </p:bgPr>
    </p:bg>
    <p:spTree>
      <p:nvGrpSpPr>
        <p:cNvPr id="1" name=""/>
        <p:cNvGrpSpPr/>
        <p:nvPr/>
      </p:nvGrpSpPr>
      <p:grpSpPr/>
      <p:sp>
        <p:nvSpPr>
          <p:cNvPr id="2" name="TextBox 1"/>
          <p:cNvSpPr txBox="1"/>
          <p:nvPr/>
        </p:nvSpPr>
        <p:spPr>
          <a:xfrm>
            <a:off x="594360" y="384048"/>
            <a:ext cx="10058400" cy="228600"/>
          </a:xfrm>
          <a:prstGeom prst="rect">
            <a:avLst/>
          </a:prstGeom>
          <a:noFill/>
        </p:spPr>
        <p:txBody>
          <a:bodyPr wrap="square" lIns="0" rIns="0" tIns="0" bIns="0">
            <a:spAutoFit/>
          </a:bodyPr>
          <a:lstStyle/>
          <a:p>
            <a:pPr>
              <a:lnSpc>
                <a:spcPct val="112000"/>
              </a:lnSpc>
              <a:spcBef>
                <a:spcPts val="0"/>
              </a:spcBef>
              <a:spcAft>
                <a:spcPts val="500"/>
              </a:spcAft>
              <a:defRPr sz="1000" b="1">
                <a:solidFill>
                  <a:srgbClr val="D7EAA5"/>
                </a:solidFill>
                <a:latin typeface="Noto Sans"/>
              </a:defRPr>
            </a:pPr>
            <a:r>
              <a:t>НОМИНАТСИЯИ 5 · ЗЕҲНИ СУНЪӢ ВА ТАҲЛИЛИ РАҚАМӢ</a:t>
            </a:r>
          </a:p>
        </p:txBody>
      </p:sp>
      <p:sp>
        <p:nvSpPr>
          <p:cNvPr id="3" name="TextBox 2"/>
          <p:cNvSpPr txBox="1"/>
          <p:nvPr/>
        </p:nvSpPr>
        <p:spPr>
          <a:xfrm>
            <a:off x="594360" y="896112"/>
            <a:ext cx="10972800" cy="941832"/>
          </a:xfrm>
          <a:prstGeom prst="rect">
            <a:avLst/>
          </a:prstGeom>
          <a:noFill/>
        </p:spPr>
        <p:txBody>
          <a:bodyPr wrap="square" lIns="0" rIns="0" tIns="0" bIns="0">
            <a:spAutoFit/>
          </a:bodyPr>
          <a:lstStyle/>
          <a:p>
            <a:pPr>
              <a:lnSpc>
                <a:spcPct val="112000"/>
              </a:lnSpc>
              <a:spcBef>
                <a:spcPts val="0"/>
              </a:spcBef>
              <a:spcAft>
                <a:spcPts val="500"/>
              </a:spcAft>
              <a:defRPr sz="3100" b="0">
                <a:solidFill>
                  <a:srgbClr val="FFFFFF"/>
                </a:solidFill>
                <a:latin typeface="Noto Serif"/>
              </a:defRPr>
            </a:pPr>
          </a:p>
        </p:txBody>
      </p:sp>
      <p:cxnSp>
        <p:nvCxnSpPr>
          <p:cNvPr id="4" name="Connector 3"/>
          <p:cNvCxnSpPr/>
          <p:nvPr/>
        </p:nvCxnSpPr>
        <p:spPr>
          <a:xfrm>
            <a:off x="594360" y="6437376"/>
            <a:ext cx="11000232" cy="0"/>
          </a:xfrm>
          <a:prstGeom prst="line">
            <a:avLst/>
          </a:prstGeom>
          <a:ln w="8255">
            <a:solidFill>
              <a:srgbClr val="64776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315200" cy="182880"/>
          </a:xfrm>
          <a:prstGeom prst="rect">
            <a:avLst/>
          </a:prstGeom>
          <a:noFill/>
        </p:spPr>
        <p:txBody>
          <a:bodyPr wrap="square" lIns="0" rIns="0" tIns="0" bIns="0">
            <a:spAutoFit/>
          </a:bodyPr>
          <a:lstStyle/>
          <a:p>
            <a:pPr>
              <a:lnSpc>
                <a:spcPct val="112000"/>
              </a:lnSpc>
              <a:spcBef>
                <a:spcPts val="0"/>
              </a:spcBef>
              <a:spcAft>
                <a:spcPts val="500"/>
              </a:spcAft>
              <a:defRPr sz="900" b="0">
                <a:solidFill>
                  <a:srgbClr val="D7EAA5"/>
                </a:solidFill>
                <a:latin typeface="Noto Sans"/>
              </a:defRPr>
            </a:pPr>
            <a:r>
              <a:t>ОБҲУШ  /  Идеяи ман — калиди фардо  /  2026</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2000"/>
              </a:lnSpc>
              <a:spcBef>
                <a:spcPts val="0"/>
              </a:spcBef>
              <a:spcAft>
                <a:spcPts val="500"/>
              </a:spcAft>
              <a:defRPr sz="1000" b="0">
                <a:solidFill>
                  <a:srgbClr val="D7EAA5"/>
                </a:solidFill>
                <a:latin typeface="Noto Sans"/>
              </a:defRPr>
            </a:pPr>
            <a:r>
              <a:t>01 / 10</a:t>
            </a:r>
          </a:p>
        </p:txBody>
      </p:sp>
      <p:pic>
        <p:nvPicPr>
          <p:cNvPr id="7" name="Picture 6" descr="garden-desktop.jpg"/>
          <p:cNvPicPr>
            <a:picLocks noChangeAspect="1"/>
          </p:cNvPicPr>
          <p:nvPr/>
        </p:nvPicPr>
        <p:blipFill>
          <a:blip r:embed="rId3"/>
          <a:srcRect l="27236" r="27236"/>
          <a:stretch>
            <a:fillRect/>
          </a:stretch>
        </p:blipFill>
        <p:spPr>
          <a:xfrm>
            <a:off x="6995160" y="0"/>
            <a:ext cx="5202936" cy="6428232"/>
          </a:xfrm>
          <a:prstGeom prst="rect">
            <a:avLst/>
          </a:prstGeom>
        </p:spPr>
      </p:pic>
      <p:cxnSp>
        <p:nvCxnSpPr>
          <p:cNvPr id="8" name="Connector 7"/>
          <p:cNvCxnSpPr/>
          <p:nvPr/>
        </p:nvCxnSpPr>
        <p:spPr>
          <a:xfrm>
            <a:off x="658368" y="1170432"/>
            <a:ext cx="34701" cy="1757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3069" y="1188004"/>
            <a:ext cx="34701"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27770" y="1204379"/>
            <a:ext cx="34702"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2472" y="1218440"/>
            <a:ext cx="34701"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97173" y="1229230"/>
            <a:ext cx="34702"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31875" y="1236012"/>
            <a:ext cx="34701"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66576" y="1236012"/>
            <a:ext cx="34702"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901278" y="1229230"/>
            <a:ext cx="34701"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35979" y="1218440"/>
            <a:ext cx="34702"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70681" y="1204379"/>
            <a:ext cx="34701"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05382" y="1188004"/>
            <a:ext cx="34702"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40084" y="1170432"/>
            <a:ext cx="34701" cy="1757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074785" y="1152859"/>
            <a:ext cx="34702" cy="1757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109487" y="1136484"/>
            <a:ext cx="34701"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144188" y="1122423"/>
            <a:ext cx="34702"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178890" y="1111633"/>
            <a:ext cx="34701"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213591" y="1104851"/>
            <a:ext cx="34702"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248293" y="1102537"/>
            <a:ext cx="34701"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282994" y="1102537"/>
            <a:ext cx="34702"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17696" y="1104851"/>
            <a:ext cx="34701"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52397" y="1111633"/>
            <a:ext cx="34702"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7099" y="1122423"/>
            <a:ext cx="34701"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421800" y="1136484"/>
            <a:ext cx="34702"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56502" y="1152859"/>
            <a:ext cx="34701" cy="1757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58368" y="1321308"/>
            <a:ext cx="34701" cy="1757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93069" y="1338880"/>
            <a:ext cx="34701"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27770" y="1355255"/>
            <a:ext cx="34702"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62472" y="1369316"/>
            <a:ext cx="34701"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97173" y="1380106"/>
            <a:ext cx="34702"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31875" y="1386888"/>
            <a:ext cx="34701"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66576" y="1386888"/>
            <a:ext cx="34702"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901278" y="1380106"/>
            <a:ext cx="34701"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935979" y="1369316"/>
            <a:ext cx="34702"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70681" y="1355255"/>
            <a:ext cx="34701"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005382" y="1338880"/>
            <a:ext cx="34702"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40084" y="1321308"/>
            <a:ext cx="34701" cy="1757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74785" y="1303735"/>
            <a:ext cx="34702" cy="1757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109487" y="1287360"/>
            <a:ext cx="34701"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144188" y="1273299"/>
            <a:ext cx="34702"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78890" y="1262509"/>
            <a:ext cx="34701"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213591" y="1255727"/>
            <a:ext cx="34702"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248293" y="1253413"/>
            <a:ext cx="34701"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282994" y="1253413"/>
            <a:ext cx="34702"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317696" y="1255727"/>
            <a:ext cx="34701"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352397" y="1262509"/>
            <a:ext cx="34702"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387099" y="1273299"/>
            <a:ext cx="34701"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421800" y="1287360"/>
            <a:ext cx="34702"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456502" y="1303735"/>
            <a:ext cx="34701" cy="1757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58368" y="1472184"/>
            <a:ext cx="34701" cy="1757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93069" y="1489756"/>
            <a:ext cx="34701"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27770" y="1506131"/>
            <a:ext cx="34702"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62472" y="1520192"/>
            <a:ext cx="34701"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97173" y="1530982"/>
            <a:ext cx="34702"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831875" y="1537764"/>
            <a:ext cx="34701"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66576" y="1537764"/>
            <a:ext cx="34702"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901278" y="1530982"/>
            <a:ext cx="34701"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35979" y="1520192"/>
            <a:ext cx="34702"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970681" y="1506131"/>
            <a:ext cx="34701"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1005382" y="1489756"/>
            <a:ext cx="34702"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1040084" y="1472184"/>
            <a:ext cx="34701" cy="1757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1074785" y="1454611"/>
            <a:ext cx="34702" cy="1757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1109487" y="1438236"/>
            <a:ext cx="34701"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144188" y="1424175"/>
            <a:ext cx="34702"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1178890" y="1413385"/>
            <a:ext cx="34701"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1213591" y="1406603"/>
            <a:ext cx="34702"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1248293" y="1404289"/>
            <a:ext cx="34701"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282994" y="1404289"/>
            <a:ext cx="34702" cy="2314"/>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17696" y="1406603"/>
            <a:ext cx="34701" cy="67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52397" y="1413385"/>
            <a:ext cx="34702" cy="107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87099" y="1424175"/>
            <a:ext cx="34701" cy="14061"/>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421800" y="1438236"/>
            <a:ext cx="34702" cy="16375"/>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456502" y="1454611"/>
            <a:ext cx="34701" cy="1757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1783080" y="1051560"/>
            <a:ext cx="4572000" cy="640080"/>
          </a:xfrm>
          <a:prstGeom prst="rect">
            <a:avLst/>
          </a:prstGeom>
          <a:noFill/>
        </p:spPr>
        <p:txBody>
          <a:bodyPr wrap="square" lIns="0" rIns="0" tIns="0" bIns="0">
            <a:spAutoFit/>
          </a:bodyPr>
          <a:lstStyle/>
          <a:p>
            <a:pPr>
              <a:lnSpc>
                <a:spcPct val="112000"/>
              </a:lnSpc>
              <a:spcBef>
                <a:spcPts val="0"/>
              </a:spcBef>
              <a:spcAft>
                <a:spcPts val="500"/>
              </a:spcAft>
              <a:defRPr sz="3800" b="1">
                <a:solidFill>
                  <a:srgbClr val="FFFFFF"/>
                </a:solidFill>
                <a:latin typeface="Noto Sans"/>
              </a:defRPr>
            </a:pPr>
            <a:r>
              <a:t>ОБҲУШ</a:t>
            </a:r>
          </a:p>
        </p:txBody>
      </p:sp>
      <p:sp>
        <p:nvSpPr>
          <p:cNvPr id="81" name="TextBox 80"/>
          <p:cNvSpPr txBox="1"/>
          <p:nvPr/>
        </p:nvSpPr>
        <p:spPr>
          <a:xfrm>
            <a:off x="594360" y="2148840"/>
            <a:ext cx="6217920" cy="1600200"/>
          </a:xfrm>
          <a:prstGeom prst="rect">
            <a:avLst/>
          </a:prstGeom>
          <a:noFill/>
        </p:spPr>
        <p:txBody>
          <a:bodyPr wrap="square" lIns="0" rIns="0" tIns="0" bIns="0">
            <a:spAutoFit/>
          </a:bodyPr>
          <a:lstStyle/>
          <a:p>
            <a:pPr>
              <a:lnSpc>
                <a:spcPct val="112000"/>
              </a:lnSpc>
              <a:spcBef>
                <a:spcPts val="0"/>
              </a:spcBef>
              <a:spcAft>
                <a:spcPts val="500"/>
              </a:spcAft>
              <a:defRPr sz="3600" b="0">
                <a:solidFill>
                  <a:srgbClr val="D7EAA5"/>
                </a:solidFill>
                <a:latin typeface="Noto Serif"/>
              </a:defRPr>
            </a:pPr>
            <a:r>
              <a:t>Об. Обу ҳаво.</a:t>
            </a:r>
          </a:p>
          <a:p>
            <a:pPr>
              <a:lnSpc>
                <a:spcPct val="112000"/>
              </a:lnSpc>
              <a:spcBef>
                <a:spcPts val="0"/>
              </a:spcBef>
              <a:spcAft>
                <a:spcPts val="500"/>
              </a:spcAft>
              <a:defRPr sz="3600" b="0">
                <a:solidFill>
                  <a:srgbClr val="D7EAA5"/>
                </a:solidFill>
                <a:latin typeface="Noto Serif"/>
              </a:defRPr>
            </a:pPr>
            <a:r>
              <a:t>Қарори дуруст.</a:t>
            </a:r>
          </a:p>
        </p:txBody>
      </p:sp>
      <p:sp>
        <p:nvSpPr>
          <p:cNvPr id="82" name="TextBox 81"/>
          <p:cNvSpPr txBox="1"/>
          <p:nvPr/>
        </p:nvSpPr>
        <p:spPr>
          <a:xfrm>
            <a:off x="621792" y="4005072"/>
            <a:ext cx="5669280" cy="914400"/>
          </a:xfrm>
          <a:prstGeom prst="rect">
            <a:avLst/>
          </a:prstGeom>
          <a:noFill/>
        </p:spPr>
        <p:txBody>
          <a:bodyPr wrap="square" lIns="0" rIns="0" tIns="0" bIns="0">
            <a:spAutoFit/>
          </a:bodyPr>
          <a:lstStyle/>
          <a:p>
            <a:pPr>
              <a:lnSpc>
                <a:spcPct val="112000"/>
              </a:lnSpc>
              <a:spcBef>
                <a:spcPts val="0"/>
              </a:spcBef>
              <a:spcAft>
                <a:spcPts val="500"/>
              </a:spcAft>
              <a:defRPr sz="2000" b="0">
                <a:solidFill>
                  <a:srgbClr val="FFFFFF"/>
                </a:solidFill>
                <a:latin typeface="Noto Sans"/>
              </a:defRPr>
            </a:pPr>
            <a:r>
              <a:t>Ёвари рақамӣ барои обёрӣ,</a:t>
            </a:r>
          </a:p>
          <a:p>
            <a:pPr>
              <a:lnSpc>
                <a:spcPct val="112000"/>
              </a:lnSpc>
              <a:spcBef>
                <a:spcPts val="0"/>
              </a:spcBef>
              <a:spcAft>
                <a:spcPts val="500"/>
              </a:spcAft>
              <a:defRPr sz="2000" b="0">
                <a:solidFill>
                  <a:srgbClr val="FFFFFF"/>
                </a:solidFill>
                <a:latin typeface="Noto Sans"/>
              </a:defRPr>
            </a:pPr>
            <a:r>
              <a:t>кори берунӣ ва сарфаи об.</a:t>
            </a:r>
          </a:p>
        </p:txBody>
      </p:sp>
      <p:sp>
        <p:nvSpPr>
          <p:cNvPr id="83" name="Rounded Rectangle 82"/>
          <p:cNvSpPr/>
          <p:nvPr/>
        </p:nvSpPr>
        <p:spPr>
          <a:xfrm>
            <a:off x="621792" y="5431536"/>
            <a:ext cx="2971800" cy="338328"/>
          </a:xfrm>
          <a:prstGeom prst="roundRect">
            <a:avLst>
              <a:gd name="adj" fmla="val 12000"/>
            </a:avLst>
          </a:prstGeom>
          <a:solidFill>
            <a:srgbClr val="D7E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731520" y="5500116"/>
            <a:ext cx="2752344" cy="182880"/>
          </a:xfrm>
          <a:prstGeom prst="rect">
            <a:avLst/>
          </a:prstGeom>
          <a:noFill/>
        </p:spPr>
        <p:txBody>
          <a:bodyPr wrap="square" lIns="0" rIns="0" tIns="0" bIns="0">
            <a:spAutoFit/>
          </a:bodyPr>
          <a:lstStyle/>
          <a:p>
            <a:pPr>
              <a:lnSpc>
                <a:spcPct val="112000"/>
              </a:lnSpc>
              <a:spcBef>
                <a:spcPts val="0"/>
              </a:spcBef>
              <a:spcAft>
                <a:spcPts val="500"/>
              </a:spcAft>
              <a:defRPr sz="900" b="1">
                <a:solidFill>
                  <a:srgbClr val="183C31"/>
                </a:solidFill>
                <a:latin typeface="Noto Sans"/>
              </a:defRPr>
            </a:pPr>
            <a:r>
              <a:t>БАРОИ МАРДУМИ ТОҶИКИСТОН</a:t>
            </a:r>
          </a:p>
        </p:txBody>
      </p:sp>
      <p:sp>
        <p:nvSpPr>
          <p:cNvPr id="85" name="TextBox 84"/>
          <p:cNvSpPr txBox="1"/>
          <p:nvPr/>
        </p:nvSpPr>
        <p:spPr>
          <a:xfrm>
            <a:off x="7333488" y="5952744"/>
            <a:ext cx="4572000" cy="256032"/>
          </a:xfrm>
          <a:prstGeom prst="rect">
            <a:avLst/>
          </a:prstGeom>
          <a:noFill/>
        </p:spPr>
        <p:txBody>
          <a:bodyPr wrap="square" lIns="0" rIns="0" tIns="0" bIns="0">
            <a:spAutoFit/>
          </a:bodyPr>
          <a:lstStyle/>
          <a:p>
            <a:pPr>
              <a:lnSpc>
                <a:spcPct val="112000"/>
              </a:lnSpc>
              <a:spcBef>
                <a:spcPts val="0"/>
              </a:spcBef>
              <a:spcAft>
                <a:spcPts val="500"/>
              </a:spcAft>
              <a:defRPr sz="900" b="0">
                <a:solidFill>
                  <a:srgbClr val="FFFFFF"/>
                </a:solidFill>
                <a:latin typeface="Noto Sans"/>
              </a:defRPr>
            </a:pPr>
            <a:r>
              <a:t>Тасвир аз видеои пешниҳодшудаи лоиҳа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0058400" cy="228600"/>
          </a:xfrm>
          <a:prstGeom prst="rect">
            <a:avLst/>
          </a:prstGeom>
          <a:noFill/>
        </p:spPr>
        <p:txBody>
          <a:bodyPr wrap="square" lIns="0" rIns="0" tIns="0" bIns="0">
            <a:spAutoFit/>
          </a:bodyPr>
          <a:lstStyle/>
          <a:p>
            <a:pPr>
              <a:lnSpc>
                <a:spcPct val="112000"/>
              </a:lnSpc>
              <a:spcBef>
                <a:spcPts val="0"/>
              </a:spcBef>
              <a:spcAft>
                <a:spcPts val="500"/>
              </a:spcAft>
              <a:defRPr sz="1000" b="1">
                <a:solidFill>
                  <a:srgbClr val="64776B"/>
                </a:solidFill>
                <a:latin typeface="Noto Sans"/>
              </a:defRPr>
            </a:pPr>
            <a:r>
              <a:t>01 · МУШКИЛОТ</a:t>
            </a:r>
          </a:p>
        </p:txBody>
      </p:sp>
      <p:sp>
        <p:nvSpPr>
          <p:cNvPr id="3" name="TextBox 2"/>
          <p:cNvSpPr txBox="1"/>
          <p:nvPr/>
        </p:nvSpPr>
        <p:spPr>
          <a:xfrm>
            <a:off x="594360" y="896112"/>
            <a:ext cx="10972800" cy="941832"/>
          </a:xfrm>
          <a:prstGeom prst="rect">
            <a:avLst/>
          </a:prstGeom>
          <a:noFill/>
        </p:spPr>
        <p:txBody>
          <a:bodyPr wrap="square" lIns="0" rIns="0" tIns="0" bIns="0">
            <a:spAutoFit/>
          </a:bodyPr>
          <a:lstStyle/>
          <a:p>
            <a:pPr>
              <a:lnSpc>
                <a:spcPct val="112000"/>
              </a:lnSpc>
              <a:spcBef>
                <a:spcPts val="0"/>
              </a:spcBef>
              <a:spcAft>
                <a:spcPts val="500"/>
              </a:spcAft>
              <a:defRPr sz="3100" b="0">
                <a:solidFill>
                  <a:srgbClr val="203C32"/>
                </a:solidFill>
                <a:latin typeface="Noto Serif"/>
              </a:defRPr>
            </a:pPr>
            <a:r>
              <a:t>Маълумот ҳаст. Қарор душвор аст.</a:t>
            </a:r>
          </a:p>
        </p:txBody>
      </p:sp>
      <p:cxnSp>
        <p:nvCxnSpPr>
          <p:cNvPr id="4" name="Connector 3"/>
          <p:cNvCxnSpPr/>
          <p:nvPr/>
        </p:nvCxnSpPr>
        <p:spPr>
          <a:xfrm>
            <a:off x="594360" y="6437376"/>
            <a:ext cx="11000232" cy="0"/>
          </a:xfrm>
          <a:prstGeom prst="line">
            <a:avLst/>
          </a:prstGeom>
          <a:ln w="8255">
            <a:solidFill>
              <a:srgbClr val="D9E0D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315200" cy="182880"/>
          </a:xfrm>
          <a:prstGeom prst="rect">
            <a:avLst/>
          </a:prstGeom>
          <a:noFill/>
        </p:spPr>
        <p:txBody>
          <a:bodyPr wrap="square" lIns="0" rIns="0" tIns="0" bIns="0">
            <a:spAutoFit/>
          </a:bodyPr>
          <a:lstStyle/>
          <a:p>
            <a:pPr>
              <a:lnSpc>
                <a:spcPct val="112000"/>
              </a:lnSpc>
              <a:spcBef>
                <a:spcPts val="0"/>
              </a:spcBef>
              <a:spcAft>
                <a:spcPts val="500"/>
              </a:spcAft>
              <a:defRPr sz="900" b="0">
                <a:solidFill>
                  <a:srgbClr val="64776B"/>
                </a:solidFill>
                <a:latin typeface="Noto Sans"/>
              </a:defRPr>
            </a:pPr>
            <a:r>
              <a:t>ОБҲУШ  /  Идеяи ман — калиди фардо  /  2026</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2000"/>
              </a:lnSpc>
              <a:spcBef>
                <a:spcPts val="0"/>
              </a:spcBef>
              <a:spcAft>
                <a:spcPts val="500"/>
              </a:spcAft>
              <a:defRPr sz="1000" b="0">
                <a:solidFill>
                  <a:srgbClr val="64776B"/>
                </a:solidFill>
                <a:latin typeface="Noto Sans"/>
              </a:defRPr>
            </a:pPr>
            <a:r>
              <a:t>02 / 10</a:t>
            </a:r>
          </a:p>
        </p:txBody>
      </p:sp>
      <p:sp>
        <p:nvSpPr>
          <p:cNvPr id="7" name="Rounded Rectangle 6"/>
          <p:cNvSpPr/>
          <p:nvPr/>
        </p:nvSpPr>
        <p:spPr>
          <a:xfrm>
            <a:off x="594360" y="2157984"/>
            <a:ext cx="3547872" cy="3300984"/>
          </a:xfrm>
          <a:prstGeom prst="roundRect">
            <a:avLst>
              <a:gd name="adj" fmla="val 12000"/>
            </a:avLst>
          </a:prstGeom>
          <a:solidFill>
            <a:srgbClr val="E9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3017520" cy="320040"/>
          </a:xfrm>
          <a:prstGeom prst="rect">
            <a:avLst/>
          </a:prstGeom>
          <a:noFill/>
        </p:spPr>
        <p:txBody>
          <a:bodyPr wrap="square" lIns="0" rIns="0" tIns="0" bIns="0">
            <a:spAutoFit/>
          </a:bodyPr>
          <a:lstStyle/>
          <a:p>
            <a:pPr>
              <a:lnSpc>
                <a:spcPct val="112000"/>
              </a:lnSpc>
              <a:spcBef>
                <a:spcPts val="0"/>
              </a:spcBef>
              <a:spcAft>
                <a:spcPts val="500"/>
              </a:spcAft>
              <a:defRPr sz="1300" b="1">
                <a:solidFill>
                  <a:srgbClr val="64776B"/>
                </a:solidFill>
                <a:latin typeface="Noto Sans"/>
              </a:defRPr>
            </a:pPr>
            <a:r>
              <a:t>01  /  Боғбон</a:t>
            </a:r>
          </a:p>
        </p:txBody>
      </p:sp>
      <p:sp>
        <p:nvSpPr>
          <p:cNvPr id="9" name="TextBox 8"/>
          <p:cNvSpPr txBox="1"/>
          <p:nvPr/>
        </p:nvSpPr>
        <p:spPr>
          <a:xfrm>
            <a:off x="841248" y="2999232"/>
            <a:ext cx="3035808" cy="1115568"/>
          </a:xfrm>
          <a:prstGeom prst="rect">
            <a:avLst/>
          </a:prstGeom>
          <a:noFill/>
        </p:spPr>
        <p:txBody>
          <a:bodyPr wrap="square" lIns="0" rIns="0" tIns="0" bIns="0">
            <a:spAutoFit/>
          </a:bodyPr>
          <a:lstStyle/>
          <a:p>
            <a:pPr>
              <a:lnSpc>
                <a:spcPct val="112000"/>
              </a:lnSpc>
              <a:spcBef>
                <a:spcPts val="0"/>
              </a:spcBef>
              <a:spcAft>
                <a:spcPts val="500"/>
              </a:spcAft>
              <a:defRPr sz="2400" b="0">
                <a:solidFill>
                  <a:srgbClr val="203C32"/>
                </a:solidFill>
                <a:latin typeface="Noto Serif"/>
              </a:defRPr>
            </a:pPr>
            <a:r>
              <a:t>Кай ва чӣ қадар</a:t>
            </a:r>
          </a:p>
          <a:p>
            <a:pPr>
              <a:lnSpc>
                <a:spcPct val="112000"/>
              </a:lnSpc>
              <a:spcBef>
                <a:spcPts val="0"/>
              </a:spcBef>
              <a:spcAft>
                <a:spcPts val="500"/>
              </a:spcAft>
              <a:defRPr sz="2400" b="0">
                <a:solidFill>
                  <a:srgbClr val="203C32"/>
                </a:solidFill>
                <a:latin typeface="Noto Serif"/>
              </a:defRPr>
            </a:pPr>
            <a:r>
              <a:t>об диҳам?</a:t>
            </a:r>
          </a:p>
        </p:txBody>
      </p:sp>
      <p:sp>
        <p:nvSpPr>
          <p:cNvPr id="10" name="TextBox 9"/>
          <p:cNvSpPr txBox="1"/>
          <p:nvPr/>
        </p:nvSpPr>
        <p:spPr>
          <a:xfrm>
            <a:off x="841248" y="4535424"/>
            <a:ext cx="3035808" cy="731520"/>
          </a:xfrm>
          <a:prstGeom prst="rect">
            <a:avLst/>
          </a:prstGeom>
          <a:noFill/>
        </p:spPr>
        <p:txBody>
          <a:bodyPr wrap="square" lIns="0" rIns="0" tIns="0" bIns="0">
            <a:spAutoFit/>
          </a:bodyPr>
          <a:lstStyle/>
          <a:p>
            <a:pPr>
              <a:lnSpc>
                <a:spcPct val="112000"/>
              </a:lnSpc>
              <a:spcBef>
                <a:spcPts val="0"/>
              </a:spcBef>
              <a:spcAft>
                <a:spcPts val="500"/>
              </a:spcAft>
              <a:defRPr sz="1600" b="0">
                <a:solidFill>
                  <a:srgbClr val="64776B"/>
                </a:solidFill>
                <a:latin typeface="Noto Sans"/>
              </a:defRPr>
            </a:pPr>
            <a:r>
              <a:t>Боришро чӣ гуна ба обёрӣ</a:t>
            </a:r>
          </a:p>
          <a:p>
            <a:pPr>
              <a:lnSpc>
                <a:spcPct val="112000"/>
              </a:lnSpc>
              <a:spcBef>
                <a:spcPts val="0"/>
              </a:spcBef>
              <a:spcAft>
                <a:spcPts val="500"/>
              </a:spcAft>
              <a:defRPr sz="1600" b="0">
                <a:solidFill>
                  <a:srgbClr val="64776B"/>
                </a:solidFill>
                <a:latin typeface="Noto Sans"/>
              </a:defRPr>
            </a:pPr>
            <a:r>
              <a:t>пайваст кунам?</a:t>
            </a:r>
          </a:p>
        </p:txBody>
      </p:sp>
      <p:sp>
        <p:nvSpPr>
          <p:cNvPr id="11" name="Rounded Rectangle 10"/>
          <p:cNvSpPr/>
          <p:nvPr/>
        </p:nvSpPr>
        <p:spPr>
          <a:xfrm>
            <a:off x="4325112" y="2157984"/>
            <a:ext cx="3547872" cy="3300984"/>
          </a:xfrm>
          <a:prstGeom prst="roundRect">
            <a:avLst>
              <a:gd name="adj" fmla="val 12000"/>
            </a:avLst>
          </a:prstGeom>
          <a:solidFill>
            <a:srgbClr val="EEE3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2404872"/>
            <a:ext cx="3017520" cy="320040"/>
          </a:xfrm>
          <a:prstGeom prst="rect">
            <a:avLst/>
          </a:prstGeom>
          <a:noFill/>
        </p:spPr>
        <p:txBody>
          <a:bodyPr wrap="square" lIns="0" rIns="0" tIns="0" bIns="0">
            <a:spAutoFit/>
          </a:bodyPr>
          <a:lstStyle/>
          <a:p>
            <a:pPr>
              <a:lnSpc>
                <a:spcPct val="112000"/>
              </a:lnSpc>
              <a:spcBef>
                <a:spcPts val="0"/>
              </a:spcBef>
              <a:spcAft>
                <a:spcPts val="500"/>
              </a:spcAft>
              <a:defRPr sz="1300" b="1">
                <a:solidFill>
                  <a:srgbClr val="64776B"/>
                </a:solidFill>
                <a:latin typeface="Noto Sans"/>
              </a:defRPr>
            </a:pPr>
            <a:r>
              <a:t>02  /  Корманд</a:t>
            </a:r>
          </a:p>
        </p:txBody>
      </p:sp>
      <p:sp>
        <p:nvSpPr>
          <p:cNvPr id="13" name="TextBox 12"/>
          <p:cNvSpPr txBox="1"/>
          <p:nvPr/>
        </p:nvSpPr>
        <p:spPr>
          <a:xfrm>
            <a:off x="4572000" y="2999232"/>
            <a:ext cx="3035808" cy="1115568"/>
          </a:xfrm>
          <a:prstGeom prst="rect">
            <a:avLst/>
          </a:prstGeom>
          <a:noFill/>
        </p:spPr>
        <p:txBody>
          <a:bodyPr wrap="square" lIns="0" rIns="0" tIns="0" bIns="0">
            <a:spAutoFit/>
          </a:bodyPr>
          <a:lstStyle/>
          <a:p>
            <a:pPr>
              <a:lnSpc>
                <a:spcPct val="112000"/>
              </a:lnSpc>
              <a:spcBef>
                <a:spcPts val="0"/>
              </a:spcBef>
              <a:spcAft>
                <a:spcPts val="500"/>
              </a:spcAft>
              <a:defRPr sz="2400" b="0">
                <a:solidFill>
                  <a:srgbClr val="203C32"/>
                </a:solidFill>
                <a:latin typeface="Noto Serif"/>
              </a:defRPr>
            </a:pPr>
            <a:r>
              <a:t>Кай дар берун</a:t>
            </a:r>
          </a:p>
          <a:p>
            <a:pPr>
              <a:lnSpc>
                <a:spcPct val="112000"/>
              </a:lnSpc>
              <a:spcBef>
                <a:spcPts val="0"/>
              </a:spcBef>
              <a:spcAft>
                <a:spcPts val="500"/>
              </a:spcAft>
              <a:defRPr sz="2400" b="0">
                <a:solidFill>
                  <a:srgbClr val="203C32"/>
                </a:solidFill>
                <a:latin typeface="Noto Serif"/>
              </a:defRPr>
            </a:pPr>
            <a:r>
              <a:t>кор кунам?</a:t>
            </a:r>
          </a:p>
        </p:txBody>
      </p:sp>
      <p:sp>
        <p:nvSpPr>
          <p:cNvPr id="14" name="TextBox 13"/>
          <p:cNvSpPr txBox="1"/>
          <p:nvPr/>
        </p:nvSpPr>
        <p:spPr>
          <a:xfrm>
            <a:off x="4572000" y="4535424"/>
            <a:ext cx="3035808" cy="731520"/>
          </a:xfrm>
          <a:prstGeom prst="rect">
            <a:avLst/>
          </a:prstGeom>
          <a:noFill/>
        </p:spPr>
        <p:txBody>
          <a:bodyPr wrap="square" lIns="0" rIns="0" tIns="0" bIns="0">
            <a:spAutoFit/>
          </a:bodyPr>
          <a:lstStyle/>
          <a:p>
            <a:pPr>
              <a:lnSpc>
                <a:spcPct val="112000"/>
              </a:lnSpc>
              <a:spcBef>
                <a:spcPts val="0"/>
              </a:spcBef>
              <a:spcAft>
                <a:spcPts val="500"/>
              </a:spcAft>
              <a:defRPr sz="1600" b="0">
                <a:solidFill>
                  <a:srgbClr val="64776B"/>
                </a:solidFill>
                <a:latin typeface="Noto Sans"/>
              </a:defRPr>
            </a:pPr>
            <a:r>
              <a:t>Соатҳои муносибро аз куҷо</a:t>
            </a:r>
          </a:p>
          <a:p>
            <a:pPr>
              <a:lnSpc>
                <a:spcPct val="112000"/>
              </a:lnSpc>
              <a:spcBef>
                <a:spcPts val="0"/>
              </a:spcBef>
              <a:spcAft>
                <a:spcPts val="500"/>
              </a:spcAft>
              <a:defRPr sz="1600" b="0">
                <a:solidFill>
                  <a:srgbClr val="64776B"/>
                </a:solidFill>
                <a:latin typeface="Noto Sans"/>
              </a:defRPr>
            </a:pPr>
            <a:r>
              <a:t>пайдо кунам?</a:t>
            </a:r>
          </a:p>
        </p:txBody>
      </p:sp>
      <p:sp>
        <p:nvSpPr>
          <p:cNvPr id="15" name="Rounded Rectangle 14"/>
          <p:cNvSpPr/>
          <p:nvPr/>
        </p:nvSpPr>
        <p:spPr>
          <a:xfrm>
            <a:off x="8055864" y="2157984"/>
            <a:ext cx="3547872" cy="33009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02752" y="2404872"/>
            <a:ext cx="3017520" cy="320040"/>
          </a:xfrm>
          <a:prstGeom prst="rect">
            <a:avLst/>
          </a:prstGeom>
          <a:noFill/>
        </p:spPr>
        <p:txBody>
          <a:bodyPr wrap="square" lIns="0" rIns="0" tIns="0" bIns="0">
            <a:spAutoFit/>
          </a:bodyPr>
          <a:lstStyle/>
          <a:p>
            <a:pPr>
              <a:lnSpc>
                <a:spcPct val="112000"/>
              </a:lnSpc>
              <a:spcBef>
                <a:spcPts val="0"/>
              </a:spcBef>
              <a:spcAft>
                <a:spcPts val="500"/>
              </a:spcAft>
              <a:defRPr sz="1300" b="1">
                <a:solidFill>
                  <a:srgbClr val="64776B"/>
                </a:solidFill>
                <a:latin typeface="Noto Sans"/>
              </a:defRPr>
            </a:pPr>
            <a:r>
              <a:t>03  /  Оила</a:t>
            </a:r>
          </a:p>
        </p:txBody>
      </p:sp>
      <p:sp>
        <p:nvSpPr>
          <p:cNvPr id="17" name="TextBox 16"/>
          <p:cNvSpPr txBox="1"/>
          <p:nvPr/>
        </p:nvSpPr>
        <p:spPr>
          <a:xfrm>
            <a:off x="8302752" y="2999232"/>
            <a:ext cx="3035808" cy="1115568"/>
          </a:xfrm>
          <a:prstGeom prst="rect">
            <a:avLst/>
          </a:prstGeom>
          <a:noFill/>
        </p:spPr>
        <p:txBody>
          <a:bodyPr wrap="square" lIns="0" rIns="0" tIns="0" bIns="0">
            <a:spAutoFit/>
          </a:bodyPr>
          <a:lstStyle/>
          <a:p>
            <a:pPr>
              <a:lnSpc>
                <a:spcPct val="112000"/>
              </a:lnSpc>
              <a:spcBef>
                <a:spcPts val="0"/>
              </a:spcBef>
              <a:spcAft>
                <a:spcPts val="500"/>
              </a:spcAft>
              <a:defRPr sz="2400" b="0">
                <a:solidFill>
                  <a:srgbClr val="203C32"/>
                </a:solidFill>
                <a:latin typeface="Noto Serif"/>
              </a:defRPr>
            </a:pPr>
            <a:r>
              <a:t>Чӣ қадар об</a:t>
            </a:r>
          </a:p>
          <a:p>
            <a:pPr>
              <a:lnSpc>
                <a:spcPct val="112000"/>
              </a:lnSpc>
              <a:spcBef>
                <a:spcPts val="0"/>
              </a:spcBef>
              <a:spcAft>
                <a:spcPts val="500"/>
              </a:spcAft>
              <a:defRPr sz="2400" b="0">
                <a:solidFill>
                  <a:srgbClr val="203C32"/>
                </a:solidFill>
                <a:latin typeface="Noto Serif"/>
              </a:defRPr>
            </a:pPr>
            <a:r>
              <a:t>сарфа кунам?</a:t>
            </a:r>
          </a:p>
        </p:txBody>
      </p:sp>
      <p:sp>
        <p:nvSpPr>
          <p:cNvPr id="18" name="TextBox 17"/>
          <p:cNvSpPr txBox="1"/>
          <p:nvPr/>
        </p:nvSpPr>
        <p:spPr>
          <a:xfrm>
            <a:off x="8302752" y="4535424"/>
            <a:ext cx="3035808" cy="731520"/>
          </a:xfrm>
          <a:prstGeom prst="rect">
            <a:avLst/>
          </a:prstGeom>
          <a:noFill/>
        </p:spPr>
        <p:txBody>
          <a:bodyPr wrap="square" lIns="0" rIns="0" tIns="0" bIns="0">
            <a:spAutoFit/>
          </a:bodyPr>
          <a:lstStyle/>
          <a:p>
            <a:pPr>
              <a:lnSpc>
                <a:spcPct val="112000"/>
              </a:lnSpc>
              <a:spcBef>
                <a:spcPts val="0"/>
              </a:spcBef>
              <a:spcAft>
                <a:spcPts val="500"/>
              </a:spcAft>
              <a:defRPr sz="1600" b="0">
                <a:solidFill>
                  <a:srgbClr val="64776B"/>
                </a:solidFill>
                <a:latin typeface="Noto Sans"/>
              </a:defRPr>
            </a:pPr>
            <a:r>
              <a:t>Кадом одати ҳаррӯза</a:t>
            </a:r>
          </a:p>
          <a:p>
            <a:pPr>
              <a:lnSpc>
                <a:spcPct val="112000"/>
              </a:lnSpc>
              <a:spcBef>
                <a:spcPts val="0"/>
              </a:spcBef>
              <a:spcAft>
                <a:spcPts val="500"/>
              </a:spcAft>
              <a:defRPr sz="1600" b="0">
                <a:solidFill>
                  <a:srgbClr val="64776B"/>
                </a:solidFill>
                <a:latin typeface="Noto Sans"/>
              </a:defRPr>
            </a:pPr>
            <a:r>
              <a:t>тағйир ёбад?</a:t>
            </a:r>
          </a:p>
        </p:txBody>
      </p:sp>
      <p:sp>
        <p:nvSpPr>
          <p:cNvPr id="19" name="TextBox 18"/>
          <p:cNvSpPr txBox="1"/>
          <p:nvPr/>
        </p:nvSpPr>
        <p:spPr>
          <a:xfrm>
            <a:off x="640080" y="5788152"/>
            <a:ext cx="10972800" cy="411480"/>
          </a:xfrm>
          <a:prstGeom prst="rect">
            <a:avLst/>
          </a:prstGeom>
          <a:noFill/>
        </p:spPr>
        <p:txBody>
          <a:bodyPr wrap="square" lIns="0" rIns="0" tIns="0" bIns="0">
            <a:spAutoFit/>
          </a:bodyPr>
          <a:lstStyle/>
          <a:p>
            <a:pPr>
              <a:lnSpc>
                <a:spcPct val="112000"/>
              </a:lnSpc>
              <a:spcBef>
                <a:spcPts val="0"/>
              </a:spcBef>
              <a:spcAft>
                <a:spcPts val="500"/>
              </a:spcAft>
              <a:defRPr sz="2200" b="1">
                <a:solidFill>
                  <a:srgbClr val="203C32"/>
                </a:solidFill>
                <a:latin typeface="Noto Sans"/>
              </a:defRPr>
            </a:pPr>
            <a:r>
              <a:t>Ба инсон амали фаҳмо лозим аст.</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0058400" cy="228600"/>
          </a:xfrm>
          <a:prstGeom prst="rect">
            <a:avLst/>
          </a:prstGeom>
          <a:noFill/>
        </p:spPr>
        <p:txBody>
          <a:bodyPr wrap="square" lIns="0" rIns="0" tIns="0" bIns="0">
            <a:spAutoFit/>
          </a:bodyPr>
          <a:lstStyle/>
          <a:p>
            <a:pPr>
              <a:lnSpc>
                <a:spcPct val="112000"/>
              </a:lnSpc>
              <a:spcBef>
                <a:spcPts val="0"/>
              </a:spcBef>
              <a:spcAft>
                <a:spcPts val="500"/>
              </a:spcAft>
              <a:defRPr sz="1000" b="1">
                <a:solidFill>
                  <a:srgbClr val="64776B"/>
                </a:solidFill>
                <a:latin typeface="Noto Sans"/>
              </a:defRPr>
            </a:pPr>
            <a:r>
              <a:t>02 · РОҲИ ҲАЛ</a:t>
            </a:r>
          </a:p>
        </p:txBody>
      </p:sp>
      <p:sp>
        <p:nvSpPr>
          <p:cNvPr id="3" name="TextBox 2"/>
          <p:cNvSpPr txBox="1"/>
          <p:nvPr/>
        </p:nvSpPr>
        <p:spPr>
          <a:xfrm>
            <a:off x="594360" y="896112"/>
            <a:ext cx="10972800" cy="941832"/>
          </a:xfrm>
          <a:prstGeom prst="rect">
            <a:avLst/>
          </a:prstGeom>
          <a:noFill/>
        </p:spPr>
        <p:txBody>
          <a:bodyPr wrap="square" lIns="0" rIns="0" tIns="0" bIns="0">
            <a:spAutoFit/>
          </a:bodyPr>
          <a:lstStyle/>
          <a:p>
            <a:pPr>
              <a:lnSpc>
                <a:spcPct val="112000"/>
              </a:lnSpc>
              <a:spcBef>
                <a:spcPts val="0"/>
              </a:spcBef>
              <a:spcAft>
                <a:spcPts val="500"/>
              </a:spcAft>
              <a:defRPr sz="3100" b="0">
                <a:solidFill>
                  <a:srgbClr val="203C32"/>
                </a:solidFill>
                <a:latin typeface="Noto Serif"/>
              </a:defRPr>
            </a:pPr>
            <a:r>
              <a:t>Шаҳри худ. Вазифаи худ. Нақшаи худ.</a:t>
            </a:r>
          </a:p>
        </p:txBody>
      </p:sp>
      <p:cxnSp>
        <p:nvCxnSpPr>
          <p:cNvPr id="4" name="Connector 3"/>
          <p:cNvCxnSpPr/>
          <p:nvPr/>
        </p:nvCxnSpPr>
        <p:spPr>
          <a:xfrm>
            <a:off x="594360" y="6437376"/>
            <a:ext cx="11000232" cy="0"/>
          </a:xfrm>
          <a:prstGeom prst="line">
            <a:avLst/>
          </a:prstGeom>
          <a:ln w="8255">
            <a:solidFill>
              <a:srgbClr val="D9E0D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315200" cy="182880"/>
          </a:xfrm>
          <a:prstGeom prst="rect">
            <a:avLst/>
          </a:prstGeom>
          <a:noFill/>
        </p:spPr>
        <p:txBody>
          <a:bodyPr wrap="square" lIns="0" rIns="0" tIns="0" bIns="0">
            <a:spAutoFit/>
          </a:bodyPr>
          <a:lstStyle/>
          <a:p>
            <a:pPr>
              <a:lnSpc>
                <a:spcPct val="112000"/>
              </a:lnSpc>
              <a:spcBef>
                <a:spcPts val="0"/>
              </a:spcBef>
              <a:spcAft>
                <a:spcPts val="500"/>
              </a:spcAft>
              <a:defRPr sz="900" b="0">
                <a:solidFill>
                  <a:srgbClr val="64776B"/>
                </a:solidFill>
                <a:latin typeface="Noto Sans"/>
              </a:defRPr>
            </a:pPr>
            <a:r>
              <a:t>ОБҲУШ  /  Идеяи ман — калиди фардо  /  2026</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2000"/>
              </a:lnSpc>
              <a:spcBef>
                <a:spcPts val="0"/>
              </a:spcBef>
              <a:spcAft>
                <a:spcPts val="500"/>
              </a:spcAft>
              <a:defRPr sz="1000" b="0">
                <a:solidFill>
                  <a:srgbClr val="64776B"/>
                </a:solidFill>
                <a:latin typeface="Noto Sans"/>
              </a:defRPr>
            </a:pPr>
            <a:r>
              <a:t>03 / 10</a:t>
            </a:r>
          </a:p>
        </p:txBody>
      </p:sp>
      <p:pic>
        <p:nvPicPr>
          <p:cNvPr id="7" name="Picture 6" descr="weather-tj.png"/>
          <p:cNvPicPr>
            <a:picLocks noChangeAspect="1"/>
          </p:cNvPicPr>
          <p:nvPr/>
        </p:nvPicPr>
        <p:blipFill>
          <a:blip r:embed="rId3"/>
          <a:stretch>
            <a:fillRect/>
          </a:stretch>
        </p:blipFill>
        <p:spPr>
          <a:xfrm>
            <a:off x="594360" y="2091745"/>
            <a:ext cx="7543800" cy="3826653"/>
          </a:xfrm>
          <a:prstGeom prst="rect">
            <a:avLst/>
          </a:prstGeom>
        </p:spPr>
      </p:pic>
      <p:sp>
        <p:nvSpPr>
          <p:cNvPr id="8" name="Rounded Rectangle 7"/>
          <p:cNvSpPr/>
          <p:nvPr/>
        </p:nvSpPr>
        <p:spPr>
          <a:xfrm>
            <a:off x="8430768" y="2057400"/>
            <a:ext cx="3163824" cy="3904487"/>
          </a:xfrm>
          <a:prstGeom prst="roundRect">
            <a:avLst>
              <a:gd name="adj" fmla="val 12000"/>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2423160"/>
            <a:ext cx="548640" cy="320040"/>
          </a:xfrm>
          <a:prstGeom prst="rect">
            <a:avLst/>
          </a:prstGeom>
          <a:noFill/>
        </p:spPr>
        <p:txBody>
          <a:bodyPr wrap="square" lIns="0" rIns="0" tIns="0" bIns="0">
            <a:spAutoFit/>
          </a:bodyPr>
          <a:lstStyle/>
          <a:p>
            <a:pPr>
              <a:lnSpc>
                <a:spcPct val="112000"/>
              </a:lnSpc>
              <a:spcBef>
                <a:spcPts val="0"/>
              </a:spcBef>
              <a:spcAft>
                <a:spcPts val="500"/>
              </a:spcAft>
              <a:defRPr sz="1600" b="1">
                <a:solidFill>
                  <a:srgbClr val="D7EAA5"/>
                </a:solidFill>
                <a:latin typeface="Noto Sans"/>
              </a:defRPr>
            </a:pPr>
            <a:r>
              <a:t>01</a:t>
            </a:r>
          </a:p>
        </p:txBody>
      </p:sp>
      <p:sp>
        <p:nvSpPr>
          <p:cNvPr id="10" name="TextBox 9"/>
          <p:cNvSpPr txBox="1"/>
          <p:nvPr/>
        </p:nvSpPr>
        <p:spPr>
          <a:xfrm>
            <a:off x="9235440" y="2423160"/>
            <a:ext cx="2103120" cy="365760"/>
          </a:xfrm>
          <a:prstGeom prst="rect">
            <a:avLst/>
          </a:prstGeom>
          <a:noFill/>
        </p:spPr>
        <p:txBody>
          <a:bodyPr wrap="square" lIns="0" rIns="0" tIns="0" bIns="0">
            <a:spAutoFit/>
          </a:bodyPr>
          <a:lstStyle/>
          <a:p>
            <a:pPr>
              <a:lnSpc>
                <a:spcPct val="112000"/>
              </a:lnSpc>
              <a:spcBef>
                <a:spcPts val="0"/>
              </a:spcBef>
              <a:spcAft>
                <a:spcPts val="500"/>
              </a:spcAft>
              <a:defRPr sz="1500" b="1">
                <a:solidFill>
                  <a:srgbClr val="FFFFFF"/>
                </a:solidFill>
                <a:latin typeface="Noto Sans"/>
              </a:defRPr>
            </a:pPr>
            <a:r>
              <a:t>Ҷойи худ</a:t>
            </a:r>
          </a:p>
        </p:txBody>
      </p:sp>
      <p:sp>
        <p:nvSpPr>
          <p:cNvPr id="11" name="TextBox 10"/>
          <p:cNvSpPr txBox="1"/>
          <p:nvPr/>
        </p:nvSpPr>
        <p:spPr>
          <a:xfrm>
            <a:off x="9235440" y="2834640"/>
            <a:ext cx="2057400" cy="457200"/>
          </a:xfrm>
          <a:prstGeom prst="rect">
            <a:avLst/>
          </a:prstGeom>
          <a:noFill/>
        </p:spPr>
        <p:txBody>
          <a:bodyPr wrap="square" lIns="0" rIns="0" tIns="0" bIns="0">
            <a:spAutoFit/>
          </a:bodyPr>
          <a:lstStyle/>
          <a:p>
            <a:pPr>
              <a:lnSpc>
                <a:spcPct val="112000"/>
              </a:lnSpc>
              <a:spcBef>
                <a:spcPts val="0"/>
              </a:spcBef>
              <a:spcAft>
                <a:spcPts val="500"/>
              </a:spcAft>
              <a:defRPr sz="1200" b="0">
                <a:solidFill>
                  <a:srgbClr val="D7EAA5"/>
                </a:solidFill>
                <a:latin typeface="Noto Sans"/>
              </a:defRPr>
            </a:pPr>
            <a:r>
              <a:t>12 шаҳр ё ҷойгиршавӣ</a:t>
            </a:r>
          </a:p>
        </p:txBody>
      </p:sp>
      <p:sp>
        <p:nvSpPr>
          <p:cNvPr id="12" name="TextBox 11"/>
          <p:cNvSpPr txBox="1"/>
          <p:nvPr/>
        </p:nvSpPr>
        <p:spPr>
          <a:xfrm>
            <a:off x="8686800" y="3456432"/>
            <a:ext cx="548640" cy="320040"/>
          </a:xfrm>
          <a:prstGeom prst="rect">
            <a:avLst/>
          </a:prstGeom>
          <a:noFill/>
        </p:spPr>
        <p:txBody>
          <a:bodyPr wrap="square" lIns="0" rIns="0" tIns="0" bIns="0">
            <a:spAutoFit/>
          </a:bodyPr>
          <a:lstStyle/>
          <a:p>
            <a:pPr>
              <a:lnSpc>
                <a:spcPct val="112000"/>
              </a:lnSpc>
              <a:spcBef>
                <a:spcPts val="0"/>
              </a:spcBef>
              <a:spcAft>
                <a:spcPts val="500"/>
              </a:spcAft>
              <a:defRPr sz="1600" b="1">
                <a:solidFill>
                  <a:srgbClr val="D7EAA5"/>
                </a:solidFill>
                <a:latin typeface="Noto Sans"/>
              </a:defRPr>
            </a:pPr>
            <a:r>
              <a:t>02</a:t>
            </a:r>
          </a:p>
        </p:txBody>
      </p:sp>
      <p:sp>
        <p:nvSpPr>
          <p:cNvPr id="13" name="TextBox 12"/>
          <p:cNvSpPr txBox="1"/>
          <p:nvPr/>
        </p:nvSpPr>
        <p:spPr>
          <a:xfrm>
            <a:off x="9235440" y="3456432"/>
            <a:ext cx="2103120" cy="365760"/>
          </a:xfrm>
          <a:prstGeom prst="rect">
            <a:avLst/>
          </a:prstGeom>
          <a:noFill/>
        </p:spPr>
        <p:txBody>
          <a:bodyPr wrap="square" lIns="0" rIns="0" tIns="0" bIns="0">
            <a:spAutoFit/>
          </a:bodyPr>
          <a:lstStyle/>
          <a:p>
            <a:pPr>
              <a:lnSpc>
                <a:spcPct val="112000"/>
              </a:lnSpc>
              <a:spcBef>
                <a:spcPts val="0"/>
              </a:spcBef>
              <a:spcAft>
                <a:spcPts val="500"/>
              </a:spcAft>
              <a:defRPr sz="1500" b="1">
                <a:solidFill>
                  <a:srgbClr val="FFFFFF"/>
                </a:solidFill>
                <a:latin typeface="Noto Sans"/>
              </a:defRPr>
            </a:pPr>
            <a:r>
              <a:t>Вазифаи худ</a:t>
            </a:r>
          </a:p>
        </p:txBody>
      </p:sp>
      <p:sp>
        <p:nvSpPr>
          <p:cNvPr id="14" name="TextBox 13"/>
          <p:cNvSpPr txBox="1"/>
          <p:nvPr/>
        </p:nvSpPr>
        <p:spPr>
          <a:xfrm>
            <a:off x="9235440" y="3867911"/>
            <a:ext cx="2057400" cy="457200"/>
          </a:xfrm>
          <a:prstGeom prst="rect">
            <a:avLst/>
          </a:prstGeom>
          <a:noFill/>
        </p:spPr>
        <p:txBody>
          <a:bodyPr wrap="square" lIns="0" rIns="0" tIns="0" bIns="0">
            <a:spAutoFit/>
          </a:bodyPr>
          <a:lstStyle/>
          <a:p>
            <a:pPr>
              <a:lnSpc>
                <a:spcPct val="112000"/>
              </a:lnSpc>
              <a:spcBef>
                <a:spcPts val="0"/>
              </a:spcBef>
              <a:spcAft>
                <a:spcPts val="500"/>
              </a:spcAft>
              <a:defRPr sz="1200" b="0">
                <a:solidFill>
                  <a:srgbClr val="D7EAA5"/>
                </a:solidFill>
                <a:latin typeface="Noto Sans"/>
              </a:defRPr>
            </a:pPr>
            <a:r>
              <a:t>Боғ, кор ё оила</a:t>
            </a:r>
          </a:p>
        </p:txBody>
      </p:sp>
      <p:sp>
        <p:nvSpPr>
          <p:cNvPr id="15" name="TextBox 14"/>
          <p:cNvSpPr txBox="1"/>
          <p:nvPr/>
        </p:nvSpPr>
        <p:spPr>
          <a:xfrm>
            <a:off x="8686800" y="4489704"/>
            <a:ext cx="548640" cy="320040"/>
          </a:xfrm>
          <a:prstGeom prst="rect">
            <a:avLst/>
          </a:prstGeom>
          <a:noFill/>
        </p:spPr>
        <p:txBody>
          <a:bodyPr wrap="square" lIns="0" rIns="0" tIns="0" bIns="0">
            <a:spAutoFit/>
          </a:bodyPr>
          <a:lstStyle/>
          <a:p>
            <a:pPr>
              <a:lnSpc>
                <a:spcPct val="112000"/>
              </a:lnSpc>
              <a:spcBef>
                <a:spcPts val="0"/>
              </a:spcBef>
              <a:spcAft>
                <a:spcPts val="500"/>
              </a:spcAft>
              <a:defRPr sz="1600" b="1">
                <a:solidFill>
                  <a:srgbClr val="D7EAA5"/>
                </a:solidFill>
                <a:latin typeface="Noto Sans"/>
              </a:defRPr>
            </a:pPr>
            <a:r>
              <a:t>03</a:t>
            </a:r>
          </a:p>
        </p:txBody>
      </p:sp>
      <p:sp>
        <p:nvSpPr>
          <p:cNvPr id="16" name="TextBox 15"/>
          <p:cNvSpPr txBox="1"/>
          <p:nvPr/>
        </p:nvSpPr>
        <p:spPr>
          <a:xfrm>
            <a:off x="9235440" y="4489704"/>
            <a:ext cx="2103120" cy="365760"/>
          </a:xfrm>
          <a:prstGeom prst="rect">
            <a:avLst/>
          </a:prstGeom>
          <a:noFill/>
        </p:spPr>
        <p:txBody>
          <a:bodyPr wrap="square" lIns="0" rIns="0" tIns="0" bIns="0">
            <a:spAutoFit/>
          </a:bodyPr>
          <a:lstStyle/>
          <a:p>
            <a:pPr>
              <a:lnSpc>
                <a:spcPct val="112000"/>
              </a:lnSpc>
              <a:spcBef>
                <a:spcPts val="0"/>
              </a:spcBef>
              <a:spcAft>
                <a:spcPts val="500"/>
              </a:spcAft>
              <a:defRPr sz="1500" b="1">
                <a:solidFill>
                  <a:srgbClr val="FFFFFF"/>
                </a:solidFill>
                <a:latin typeface="Noto Sans"/>
              </a:defRPr>
            </a:pPr>
            <a:r>
              <a:t>Нақшаи худ</a:t>
            </a:r>
          </a:p>
        </p:txBody>
      </p:sp>
      <p:sp>
        <p:nvSpPr>
          <p:cNvPr id="17" name="TextBox 16"/>
          <p:cNvSpPr txBox="1"/>
          <p:nvPr/>
        </p:nvSpPr>
        <p:spPr>
          <a:xfrm>
            <a:off x="9235440" y="4901184"/>
            <a:ext cx="2057400" cy="457200"/>
          </a:xfrm>
          <a:prstGeom prst="rect">
            <a:avLst/>
          </a:prstGeom>
          <a:noFill/>
        </p:spPr>
        <p:txBody>
          <a:bodyPr wrap="square" lIns="0" rIns="0" tIns="0" bIns="0">
            <a:spAutoFit/>
          </a:bodyPr>
          <a:lstStyle/>
          <a:p>
            <a:pPr>
              <a:lnSpc>
                <a:spcPct val="112000"/>
              </a:lnSpc>
              <a:spcBef>
                <a:spcPts val="0"/>
              </a:spcBef>
              <a:spcAft>
                <a:spcPts val="500"/>
              </a:spcAft>
              <a:defRPr sz="1200" b="0">
                <a:solidFill>
                  <a:srgbClr val="D7EAA5"/>
                </a:solidFill>
                <a:latin typeface="Noto Sans"/>
              </a:defRPr>
            </a:pPr>
            <a:r>
              <a:t>Ҳисоб, шарҳ ва нигоҳдорӣ</a:t>
            </a:r>
          </a:p>
        </p:txBody>
      </p:sp>
      <p:sp>
        <p:nvSpPr>
          <p:cNvPr id="18" name="TextBox 17"/>
          <p:cNvSpPr txBox="1"/>
          <p:nvPr/>
        </p:nvSpPr>
        <p:spPr>
          <a:xfrm>
            <a:off x="658368" y="6016752"/>
            <a:ext cx="7315200" cy="182880"/>
          </a:xfrm>
          <a:prstGeom prst="rect">
            <a:avLst/>
          </a:prstGeom>
          <a:noFill/>
        </p:spPr>
        <p:txBody>
          <a:bodyPr wrap="square" lIns="0" rIns="0" tIns="0" bIns="0">
            <a:spAutoFit/>
          </a:bodyPr>
          <a:lstStyle/>
          <a:p>
            <a:pPr>
              <a:lnSpc>
                <a:spcPct val="112000"/>
              </a:lnSpc>
              <a:spcBef>
                <a:spcPts val="0"/>
              </a:spcBef>
              <a:spcAft>
                <a:spcPts val="500"/>
              </a:spcAft>
              <a:defRPr sz="1000" b="0">
                <a:solidFill>
                  <a:srgbClr val="64776B"/>
                </a:solidFill>
                <a:latin typeface="Noto Sans"/>
              </a:defRPr>
            </a:pPr>
            <a:r>
              <a:t>Тасвири интерфейси воқеӣ · шароити ҳозира ва пешгӯии рӯз ҷудоанд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0058400" cy="228600"/>
          </a:xfrm>
          <a:prstGeom prst="rect">
            <a:avLst/>
          </a:prstGeom>
          <a:noFill/>
        </p:spPr>
        <p:txBody>
          <a:bodyPr wrap="square" lIns="0" rIns="0" tIns="0" bIns="0">
            <a:spAutoFit/>
          </a:bodyPr>
          <a:lstStyle/>
          <a:p>
            <a:pPr>
              <a:lnSpc>
                <a:spcPct val="112000"/>
              </a:lnSpc>
              <a:spcBef>
                <a:spcPts val="0"/>
              </a:spcBef>
              <a:spcAft>
                <a:spcPts val="500"/>
              </a:spcAft>
              <a:defRPr sz="1000" b="1">
                <a:solidFill>
                  <a:srgbClr val="64776B"/>
                </a:solidFill>
                <a:latin typeface="Noto Sans"/>
              </a:defRPr>
            </a:pPr>
            <a:r>
              <a:t>03 · БОҒ ВА ОБЁРӢ</a:t>
            </a:r>
          </a:p>
        </p:txBody>
      </p:sp>
      <p:sp>
        <p:nvSpPr>
          <p:cNvPr id="3" name="TextBox 2"/>
          <p:cNvSpPr txBox="1"/>
          <p:nvPr/>
        </p:nvSpPr>
        <p:spPr>
          <a:xfrm>
            <a:off x="594360" y="896112"/>
            <a:ext cx="10972800" cy="941832"/>
          </a:xfrm>
          <a:prstGeom prst="rect">
            <a:avLst/>
          </a:prstGeom>
          <a:noFill/>
        </p:spPr>
        <p:txBody>
          <a:bodyPr wrap="square" lIns="0" rIns="0" tIns="0" bIns="0">
            <a:spAutoFit/>
          </a:bodyPr>
          <a:lstStyle/>
          <a:p>
            <a:pPr>
              <a:lnSpc>
                <a:spcPct val="112000"/>
              </a:lnSpc>
              <a:spcBef>
                <a:spcPts val="0"/>
              </a:spcBef>
              <a:spcAft>
                <a:spcPts val="500"/>
              </a:spcAft>
              <a:defRPr sz="3100" b="0">
                <a:solidFill>
                  <a:srgbClr val="203C32"/>
                </a:solidFill>
                <a:latin typeface="Noto Serif"/>
              </a:defRPr>
            </a:pPr>
            <a:r>
              <a:t>Барои боғбон: обёрӣ бо ҳисоб.</a:t>
            </a:r>
          </a:p>
        </p:txBody>
      </p:sp>
      <p:cxnSp>
        <p:nvCxnSpPr>
          <p:cNvPr id="4" name="Connector 3"/>
          <p:cNvCxnSpPr/>
          <p:nvPr/>
        </p:nvCxnSpPr>
        <p:spPr>
          <a:xfrm>
            <a:off x="594360" y="6437376"/>
            <a:ext cx="11000232" cy="0"/>
          </a:xfrm>
          <a:prstGeom prst="line">
            <a:avLst/>
          </a:prstGeom>
          <a:ln w="8255">
            <a:solidFill>
              <a:srgbClr val="D9E0D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315200" cy="182880"/>
          </a:xfrm>
          <a:prstGeom prst="rect">
            <a:avLst/>
          </a:prstGeom>
          <a:noFill/>
        </p:spPr>
        <p:txBody>
          <a:bodyPr wrap="square" lIns="0" rIns="0" tIns="0" bIns="0">
            <a:spAutoFit/>
          </a:bodyPr>
          <a:lstStyle/>
          <a:p>
            <a:pPr>
              <a:lnSpc>
                <a:spcPct val="112000"/>
              </a:lnSpc>
              <a:spcBef>
                <a:spcPts val="0"/>
              </a:spcBef>
              <a:spcAft>
                <a:spcPts val="500"/>
              </a:spcAft>
              <a:defRPr sz="900" b="0">
                <a:solidFill>
                  <a:srgbClr val="64776B"/>
                </a:solidFill>
                <a:latin typeface="Noto Sans"/>
              </a:defRPr>
            </a:pPr>
            <a:r>
              <a:t>ОБҲУШ  /  Идеяи ман — калиди фардо  /  2026</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2000"/>
              </a:lnSpc>
              <a:spcBef>
                <a:spcPts val="0"/>
              </a:spcBef>
              <a:spcAft>
                <a:spcPts val="500"/>
              </a:spcAft>
              <a:defRPr sz="1000" b="0">
                <a:solidFill>
                  <a:srgbClr val="64776B"/>
                </a:solidFill>
                <a:latin typeface="Noto Sans"/>
              </a:defRPr>
            </a:pPr>
            <a:r>
              <a:t>04 / 10</a:t>
            </a:r>
          </a:p>
        </p:txBody>
      </p:sp>
      <p:sp>
        <p:nvSpPr>
          <p:cNvPr id="7" name="TextBox 6"/>
          <p:cNvSpPr txBox="1"/>
          <p:nvPr/>
        </p:nvSpPr>
        <p:spPr>
          <a:xfrm>
            <a:off x="640080" y="2039112"/>
            <a:ext cx="3703320" cy="594360"/>
          </a:xfrm>
          <a:prstGeom prst="rect">
            <a:avLst/>
          </a:prstGeom>
          <a:noFill/>
        </p:spPr>
        <p:txBody>
          <a:bodyPr wrap="square" lIns="0" rIns="0" tIns="0" bIns="0">
            <a:spAutoFit/>
          </a:bodyPr>
          <a:lstStyle/>
          <a:p>
            <a:pPr>
              <a:lnSpc>
                <a:spcPct val="112000"/>
              </a:lnSpc>
              <a:spcBef>
                <a:spcPts val="0"/>
              </a:spcBef>
              <a:spcAft>
                <a:spcPts val="500"/>
              </a:spcAft>
              <a:defRPr sz="2000" b="1">
                <a:solidFill>
                  <a:srgbClr val="203C32"/>
                </a:solidFill>
                <a:latin typeface="Noto Sans"/>
              </a:defRPr>
            </a:pPr>
            <a:r>
              <a:t>Параметрҳоро ворид кун.</a:t>
            </a:r>
          </a:p>
        </p:txBody>
      </p:sp>
      <p:sp>
        <p:nvSpPr>
          <p:cNvPr id="8" name="Oval 7"/>
          <p:cNvSpPr/>
          <p:nvPr/>
        </p:nvSpPr>
        <p:spPr>
          <a:xfrm>
            <a:off x="667512" y="2862072"/>
            <a:ext cx="109728" cy="109728"/>
          </a:xfrm>
          <a:prstGeom prst="ellipse">
            <a:avLst/>
          </a:prstGeom>
          <a:solidFill>
            <a:srgbClr val="23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16352"/>
            <a:ext cx="3355848" cy="274320"/>
          </a:xfrm>
          <a:prstGeom prst="rect">
            <a:avLst/>
          </a:prstGeom>
          <a:noFill/>
        </p:spPr>
        <p:txBody>
          <a:bodyPr wrap="square" lIns="0" rIns="0" tIns="0" bIns="0">
            <a:spAutoFit/>
          </a:bodyPr>
          <a:lstStyle/>
          <a:p>
            <a:pPr>
              <a:lnSpc>
                <a:spcPct val="112000"/>
              </a:lnSpc>
              <a:spcBef>
                <a:spcPts val="0"/>
              </a:spcBef>
              <a:spcAft>
                <a:spcPts val="500"/>
              </a:spcAft>
              <a:defRPr sz="1700" b="1">
                <a:solidFill>
                  <a:srgbClr val="203C32"/>
                </a:solidFill>
                <a:latin typeface="Noto Sans"/>
              </a:defRPr>
            </a:pPr>
            <a:r>
              <a:t>Масоҳат</a:t>
            </a:r>
          </a:p>
        </p:txBody>
      </p:sp>
      <p:sp>
        <p:nvSpPr>
          <p:cNvPr id="10" name="TextBox 9"/>
          <p:cNvSpPr txBox="1"/>
          <p:nvPr/>
        </p:nvSpPr>
        <p:spPr>
          <a:xfrm>
            <a:off x="914400" y="3163824"/>
            <a:ext cx="3355848" cy="320040"/>
          </a:xfrm>
          <a:prstGeom prst="rect">
            <a:avLst/>
          </a:prstGeom>
          <a:noFill/>
        </p:spPr>
        <p:txBody>
          <a:bodyPr wrap="square" lIns="0" rIns="0" tIns="0" bIns="0">
            <a:spAutoFit/>
          </a:bodyPr>
          <a:lstStyle/>
          <a:p>
            <a:pPr>
              <a:lnSpc>
                <a:spcPct val="112000"/>
              </a:lnSpc>
              <a:spcBef>
                <a:spcPts val="0"/>
              </a:spcBef>
              <a:spcAft>
                <a:spcPts val="500"/>
              </a:spcAft>
              <a:defRPr sz="1300" b="0">
                <a:solidFill>
                  <a:srgbClr val="64776B"/>
                </a:solidFill>
                <a:latin typeface="Noto Sans"/>
              </a:defRPr>
            </a:pPr>
            <a:r>
              <a:t>Қитъаи худ, бо м²</a:t>
            </a:r>
          </a:p>
        </p:txBody>
      </p:sp>
      <p:sp>
        <p:nvSpPr>
          <p:cNvPr id="11" name="Oval 10"/>
          <p:cNvSpPr/>
          <p:nvPr/>
        </p:nvSpPr>
        <p:spPr>
          <a:xfrm>
            <a:off x="667512" y="3703320"/>
            <a:ext cx="109728" cy="109728"/>
          </a:xfrm>
          <a:prstGeom prst="ellipse">
            <a:avLst/>
          </a:prstGeom>
          <a:solidFill>
            <a:srgbClr val="23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657600"/>
            <a:ext cx="3355848" cy="274320"/>
          </a:xfrm>
          <a:prstGeom prst="rect">
            <a:avLst/>
          </a:prstGeom>
          <a:noFill/>
        </p:spPr>
        <p:txBody>
          <a:bodyPr wrap="square" lIns="0" rIns="0" tIns="0" bIns="0">
            <a:spAutoFit/>
          </a:bodyPr>
          <a:lstStyle/>
          <a:p>
            <a:pPr>
              <a:lnSpc>
                <a:spcPct val="112000"/>
              </a:lnSpc>
              <a:spcBef>
                <a:spcPts val="0"/>
              </a:spcBef>
              <a:spcAft>
                <a:spcPts val="500"/>
              </a:spcAft>
              <a:defRPr sz="1700" b="1">
                <a:solidFill>
                  <a:srgbClr val="203C32"/>
                </a:solidFill>
                <a:latin typeface="Noto Sans"/>
              </a:defRPr>
            </a:pPr>
            <a:r>
              <a:t>Зироат ва усул</a:t>
            </a:r>
          </a:p>
        </p:txBody>
      </p:sp>
      <p:sp>
        <p:nvSpPr>
          <p:cNvPr id="13" name="TextBox 12"/>
          <p:cNvSpPr txBox="1"/>
          <p:nvPr/>
        </p:nvSpPr>
        <p:spPr>
          <a:xfrm>
            <a:off x="914400" y="4005072"/>
            <a:ext cx="3355848" cy="320040"/>
          </a:xfrm>
          <a:prstGeom prst="rect">
            <a:avLst/>
          </a:prstGeom>
          <a:noFill/>
        </p:spPr>
        <p:txBody>
          <a:bodyPr wrap="square" lIns="0" rIns="0" tIns="0" bIns="0">
            <a:spAutoFit/>
          </a:bodyPr>
          <a:lstStyle/>
          <a:p>
            <a:pPr>
              <a:lnSpc>
                <a:spcPct val="112000"/>
              </a:lnSpc>
              <a:spcBef>
                <a:spcPts val="0"/>
              </a:spcBef>
              <a:spcAft>
                <a:spcPts val="500"/>
              </a:spcAft>
              <a:defRPr sz="1300" b="0">
                <a:solidFill>
                  <a:srgbClr val="64776B"/>
                </a:solidFill>
                <a:latin typeface="Noto Sans"/>
              </a:defRPr>
            </a:pPr>
            <a:r>
              <a:t>Коэффисиент ва самаранокӣ</a:t>
            </a:r>
          </a:p>
        </p:txBody>
      </p:sp>
      <p:sp>
        <p:nvSpPr>
          <p:cNvPr id="14" name="Oval 13"/>
          <p:cNvSpPr/>
          <p:nvPr/>
        </p:nvSpPr>
        <p:spPr>
          <a:xfrm>
            <a:off x="667512" y="4544568"/>
            <a:ext cx="109728" cy="109728"/>
          </a:xfrm>
          <a:prstGeom prst="ellipse">
            <a:avLst/>
          </a:prstGeom>
          <a:solidFill>
            <a:srgbClr val="23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98848"/>
            <a:ext cx="3355848" cy="274320"/>
          </a:xfrm>
          <a:prstGeom prst="rect">
            <a:avLst/>
          </a:prstGeom>
          <a:noFill/>
        </p:spPr>
        <p:txBody>
          <a:bodyPr wrap="square" lIns="0" rIns="0" tIns="0" bIns="0">
            <a:spAutoFit/>
          </a:bodyPr>
          <a:lstStyle/>
          <a:p>
            <a:pPr>
              <a:lnSpc>
                <a:spcPct val="112000"/>
              </a:lnSpc>
              <a:spcBef>
                <a:spcPts val="0"/>
              </a:spcBef>
              <a:spcAft>
                <a:spcPts val="500"/>
              </a:spcAft>
              <a:defRPr sz="1700" b="1">
                <a:solidFill>
                  <a:srgbClr val="203C32"/>
                </a:solidFill>
                <a:latin typeface="Noto Sans"/>
              </a:defRPr>
            </a:pPr>
            <a:r>
              <a:t>Бориш ва бухоршавӣ</a:t>
            </a:r>
          </a:p>
        </p:txBody>
      </p:sp>
      <p:sp>
        <p:nvSpPr>
          <p:cNvPr id="16" name="TextBox 15"/>
          <p:cNvSpPr txBox="1"/>
          <p:nvPr/>
        </p:nvSpPr>
        <p:spPr>
          <a:xfrm>
            <a:off x="914400" y="4846320"/>
            <a:ext cx="3355848" cy="320040"/>
          </a:xfrm>
          <a:prstGeom prst="rect">
            <a:avLst/>
          </a:prstGeom>
          <a:noFill/>
        </p:spPr>
        <p:txBody>
          <a:bodyPr wrap="square" lIns="0" rIns="0" tIns="0" bIns="0">
            <a:spAutoFit/>
          </a:bodyPr>
          <a:lstStyle/>
          <a:p>
            <a:pPr>
              <a:lnSpc>
                <a:spcPct val="112000"/>
              </a:lnSpc>
              <a:spcBef>
                <a:spcPts val="0"/>
              </a:spcBef>
              <a:spcAft>
                <a:spcPts val="500"/>
              </a:spcAft>
              <a:defRPr sz="1300" b="0">
                <a:solidFill>
                  <a:srgbClr val="64776B"/>
                </a:solidFill>
                <a:latin typeface="Noto Sans"/>
              </a:defRPr>
            </a:pPr>
            <a:r>
              <a:t>Аз пешгӯии ҷои интихобшуда</a:t>
            </a:r>
          </a:p>
        </p:txBody>
      </p:sp>
      <p:pic>
        <p:nvPicPr>
          <p:cNvPr id="17" name="Picture 16" descr="garden-tj.png"/>
          <p:cNvPicPr>
            <a:picLocks noChangeAspect="1"/>
          </p:cNvPicPr>
          <p:nvPr/>
        </p:nvPicPr>
        <p:blipFill>
          <a:blip r:embed="rId3"/>
          <a:stretch>
            <a:fillRect/>
          </a:stretch>
        </p:blipFill>
        <p:spPr>
          <a:xfrm>
            <a:off x="4983587" y="1920240"/>
            <a:ext cx="6034825" cy="4151376"/>
          </a:xfrm>
          <a:prstGeom prst="rect">
            <a:avLst/>
          </a:prstGeom>
        </p:spPr>
      </p:pic>
      <p:sp>
        <p:nvSpPr>
          <p:cNvPr id="18" name="Rounded Rectangle 17"/>
          <p:cNvSpPr/>
          <p:nvPr/>
        </p:nvSpPr>
        <p:spPr>
          <a:xfrm>
            <a:off x="658368" y="5669280"/>
            <a:ext cx="3429000" cy="429768"/>
          </a:xfrm>
          <a:prstGeom prst="roundRect">
            <a:avLst>
              <a:gd name="adj" fmla="val 12000"/>
            </a:avLst>
          </a:prstGeom>
          <a:solidFill>
            <a:srgbClr val="E9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5760720"/>
            <a:ext cx="3200400" cy="228600"/>
          </a:xfrm>
          <a:prstGeom prst="rect">
            <a:avLst/>
          </a:prstGeom>
          <a:noFill/>
        </p:spPr>
        <p:txBody>
          <a:bodyPr wrap="square" lIns="0" rIns="0" tIns="0" bIns="0">
            <a:spAutoFit/>
          </a:bodyPr>
          <a:lstStyle/>
          <a:p>
            <a:pPr>
              <a:lnSpc>
                <a:spcPct val="112000"/>
              </a:lnSpc>
              <a:spcBef>
                <a:spcPts val="0"/>
              </a:spcBef>
              <a:spcAft>
                <a:spcPts val="500"/>
              </a:spcAft>
              <a:defRPr sz="1200" b="1">
                <a:solidFill>
                  <a:srgbClr val="203C32"/>
                </a:solidFill>
                <a:latin typeface="Noto Sans"/>
              </a:defRPr>
            </a:pPr>
            <a:r>
              <a:t>Натиҷа: арзёбии об бо литр</a:t>
            </a:r>
          </a:p>
        </p:txBody>
      </p:sp>
      <p:sp>
        <p:nvSpPr>
          <p:cNvPr id="20" name="TextBox 19"/>
          <p:cNvSpPr txBox="1"/>
          <p:nvPr/>
        </p:nvSpPr>
        <p:spPr>
          <a:xfrm>
            <a:off x="4526280" y="6053328"/>
            <a:ext cx="6949440" cy="192024"/>
          </a:xfrm>
          <a:prstGeom prst="rect">
            <a:avLst/>
          </a:prstGeom>
          <a:noFill/>
        </p:spPr>
        <p:txBody>
          <a:bodyPr wrap="square" lIns="0" rIns="0" tIns="0" bIns="0">
            <a:spAutoFit/>
          </a:bodyPr>
          <a:lstStyle/>
          <a:p>
            <a:pPr>
              <a:lnSpc>
                <a:spcPct val="112000"/>
              </a:lnSpc>
              <a:spcBef>
                <a:spcPts val="0"/>
              </a:spcBef>
              <a:spcAft>
                <a:spcPts val="500"/>
              </a:spcAft>
              <a:defRPr sz="1000" b="0">
                <a:solidFill>
                  <a:srgbClr val="64776B"/>
                </a:solidFill>
                <a:latin typeface="Noto Sans"/>
              </a:defRPr>
            </a:pPr>
            <a:r>
              <a:t>Арзёбии ҳисобӣ; намии воқеии хок ҳоло чен намешавад.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0058400" cy="228600"/>
          </a:xfrm>
          <a:prstGeom prst="rect">
            <a:avLst/>
          </a:prstGeom>
          <a:noFill/>
        </p:spPr>
        <p:txBody>
          <a:bodyPr wrap="square" lIns="0" rIns="0" tIns="0" bIns="0">
            <a:spAutoFit/>
          </a:bodyPr>
          <a:lstStyle/>
          <a:p>
            <a:pPr>
              <a:lnSpc>
                <a:spcPct val="112000"/>
              </a:lnSpc>
              <a:spcBef>
                <a:spcPts val="0"/>
              </a:spcBef>
              <a:spcAft>
                <a:spcPts val="500"/>
              </a:spcAft>
              <a:defRPr sz="1000" b="1">
                <a:solidFill>
                  <a:srgbClr val="64776B"/>
                </a:solidFill>
                <a:latin typeface="Noto Sans"/>
              </a:defRPr>
            </a:pPr>
            <a:r>
              <a:t>04 · КОР ДАР БЕРУН</a:t>
            </a:r>
          </a:p>
        </p:txBody>
      </p:sp>
      <p:sp>
        <p:nvSpPr>
          <p:cNvPr id="3" name="TextBox 2"/>
          <p:cNvSpPr txBox="1"/>
          <p:nvPr/>
        </p:nvSpPr>
        <p:spPr>
          <a:xfrm>
            <a:off x="594360" y="896112"/>
            <a:ext cx="10972800" cy="941832"/>
          </a:xfrm>
          <a:prstGeom prst="rect">
            <a:avLst/>
          </a:prstGeom>
          <a:noFill/>
        </p:spPr>
        <p:txBody>
          <a:bodyPr wrap="square" lIns="0" rIns="0" tIns="0" bIns="0">
            <a:spAutoFit/>
          </a:bodyPr>
          <a:lstStyle/>
          <a:p>
            <a:pPr>
              <a:lnSpc>
                <a:spcPct val="112000"/>
              </a:lnSpc>
              <a:spcBef>
                <a:spcPts val="0"/>
              </a:spcBef>
              <a:spcAft>
                <a:spcPts val="500"/>
              </a:spcAft>
              <a:defRPr sz="3100" b="0">
                <a:solidFill>
                  <a:srgbClr val="203C32"/>
                </a:solidFill>
                <a:latin typeface="Noto Serif"/>
              </a:defRPr>
            </a:pPr>
            <a:r>
              <a:t>Барои корманд: вақти муносибро интихоб кун.</a:t>
            </a:r>
          </a:p>
        </p:txBody>
      </p:sp>
      <p:cxnSp>
        <p:nvCxnSpPr>
          <p:cNvPr id="4" name="Connector 3"/>
          <p:cNvCxnSpPr/>
          <p:nvPr/>
        </p:nvCxnSpPr>
        <p:spPr>
          <a:xfrm>
            <a:off x="594360" y="6437376"/>
            <a:ext cx="11000232" cy="0"/>
          </a:xfrm>
          <a:prstGeom prst="line">
            <a:avLst/>
          </a:prstGeom>
          <a:ln w="8255">
            <a:solidFill>
              <a:srgbClr val="D9E0D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315200" cy="182880"/>
          </a:xfrm>
          <a:prstGeom prst="rect">
            <a:avLst/>
          </a:prstGeom>
          <a:noFill/>
        </p:spPr>
        <p:txBody>
          <a:bodyPr wrap="square" lIns="0" rIns="0" tIns="0" bIns="0">
            <a:spAutoFit/>
          </a:bodyPr>
          <a:lstStyle/>
          <a:p>
            <a:pPr>
              <a:lnSpc>
                <a:spcPct val="112000"/>
              </a:lnSpc>
              <a:spcBef>
                <a:spcPts val="0"/>
              </a:spcBef>
              <a:spcAft>
                <a:spcPts val="500"/>
              </a:spcAft>
              <a:defRPr sz="900" b="0">
                <a:solidFill>
                  <a:srgbClr val="64776B"/>
                </a:solidFill>
                <a:latin typeface="Noto Sans"/>
              </a:defRPr>
            </a:pPr>
            <a:r>
              <a:t>ОБҲУШ  /  Идеяи ман — калиди фардо  /  2026</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2000"/>
              </a:lnSpc>
              <a:spcBef>
                <a:spcPts val="0"/>
              </a:spcBef>
              <a:spcAft>
                <a:spcPts val="500"/>
              </a:spcAft>
              <a:defRPr sz="1000" b="0">
                <a:solidFill>
                  <a:srgbClr val="64776B"/>
                </a:solidFill>
                <a:latin typeface="Noto Sans"/>
              </a:defRPr>
            </a:pPr>
            <a:r>
              <a:t>05 / 10</a:t>
            </a:r>
          </a:p>
        </p:txBody>
      </p:sp>
      <p:pic>
        <p:nvPicPr>
          <p:cNvPr id="7" name="Picture 6" descr="work-tj.png"/>
          <p:cNvPicPr>
            <a:picLocks noChangeAspect="1"/>
          </p:cNvPicPr>
          <p:nvPr/>
        </p:nvPicPr>
        <p:blipFill>
          <a:blip r:embed="rId3"/>
          <a:stretch>
            <a:fillRect/>
          </a:stretch>
        </p:blipFill>
        <p:spPr>
          <a:xfrm>
            <a:off x="1241911" y="1883664"/>
            <a:ext cx="6084105" cy="4224528"/>
          </a:xfrm>
          <a:prstGeom prst="rect">
            <a:avLst/>
          </a:prstGeom>
        </p:spPr>
      </p:pic>
      <p:sp>
        <p:nvSpPr>
          <p:cNvPr id="8" name="TextBox 7"/>
          <p:cNvSpPr txBox="1"/>
          <p:nvPr/>
        </p:nvSpPr>
        <p:spPr>
          <a:xfrm>
            <a:off x="8321040" y="2276856"/>
            <a:ext cx="3200400" cy="640080"/>
          </a:xfrm>
          <a:prstGeom prst="rect">
            <a:avLst/>
          </a:prstGeom>
          <a:noFill/>
        </p:spPr>
        <p:txBody>
          <a:bodyPr wrap="square" lIns="0" rIns="0" tIns="0" bIns="0">
            <a:spAutoFit/>
          </a:bodyPr>
          <a:lstStyle/>
          <a:p>
            <a:pPr>
              <a:lnSpc>
                <a:spcPct val="112000"/>
              </a:lnSpc>
              <a:spcBef>
                <a:spcPts val="0"/>
              </a:spcBef>
              <a:spcAft>
                <a:spcPts val="500"/>
              </a:spcAft>
              <a:defRPr sz="2200" b="0">
                <a:solidFill>
                  <a:srgbClr val="203C32"/>
                </a:solidFill>
                <a:latin typeface="Noto Serif"/>
              </a:defRPr>
            </a:pPr>
            <a:r>
              <a:t>Аз рӯйи шароит,</a:t>
            </a:r>
          </a:p>
          <a:p>
            <a:pPr>
              <a:lnSpc>
                <a:spcPct val="112000"/>
              </a:lnSpc>
              <a:spcBef>
                <a:spcPts val="0"/>
              </a:spcBef>
              <a:spcAft>
                <a:spcPts val="500"/>
              </a:spcAft>
              <a:defRPr sz="2200" b="0">
                <a:solidFill>
                  <a:srgbClr val="203C32"/>
                </a:solidFill>
                <a:latin typeface="Noto Serif"/>
              </a:defRPr>
            </a:pPr>
            <a:r>
              <a:t>на танҳо соат.</a:t>
            </a:r>
          </a:p>
        </p:txBody>
      </p:sp>
      <p:sp>
        <p:nvSpPr>
          <p:cNvPr id="9" name="TextBox 8"/>
          <p:cNvSpPr txBox="1"/>
          <p:nvPr/>
        </p:nvSpPr>
        <p:spPr>
          <a:xfrm>
            <a:off x="8348472" y="3364992"/>
            <a:ext cx="3108960" cy="347472"/>
          </a:xfrm>
          <a:prstGeom prst="rect">
            <a:avLst/>
          </a:prstGeom>
          <a:noFill/>
        </p:spPr>
        <p:txBody>
          <a:bodyPr wrap="square" lIns="0" rIns="0" tIns="0" bIns="0">
            <a:spAutoFit/>
          </a:bodyPr>
          <a:lstStyle/>
          <a:p>
            <a:pPr>
              <a:lnSpc>
                <a:spcPct val="112000"/>
              </a:lnSpc>
              <a:spcBef>
                <a:spcPts val="0"/>
              </a:spcBef>
              <a:spcAft>
                <a:spcPts val="500"/>
              </a:spcAft>
              <a:defRPr sz="1600" b="0">
                <a:solidFill>
                  <a:srgbClr val="64776B"/>
                </a:solidFill>
                <a:latin typeface="Noto Sans"/>
              </a:defRPr>
            </a:pPr>
            <a:r>
              <a:t>— Рӯшноии рӯз</a:t>
            </a:r>
          </a:p>
        </p:txBody>
      </p:sp>
      <p:sp>
        <p:nvSpPr>
          <p:cNvPr id="10" name="TextBox 9"/>
          <p:cNvSpPr txBox="1"/>
          <p:nvPr/>
        </p:nvSpPr>
        <p:spPr>
          <a:xfrm>
            <a:off x="8348472" y="3886200"/>
            <a:ext cx="3108960" cy="347472"/>
          </a:xfrm>
          <a:prstGeom prst="rect">
            <a:avLst/>
          </a:prstGeom>
          <a:noFill/>
        </p:spPr>
        <p:txBody>
          <a:bodyPr wrap="square" lIns="0" rIns="0" tIns="0" bIns="0">
            <a:spAutoFit/>
          </a:bodyPr>
          <a:lstStyle/>
          <a:p>
            <a:pPr>
              <a:lnSpc>
                <a:spcPct val="112000"/>
              </a:lnSpc>
              <a:spcBef>
                <a:spcPts val="0"/>
              </a:spcBef>
              <a:spcAft>
                <a:spcPts val="500"/>
              </a:spcAft>
              <a:defRPr sz="1600" b="0">
                <a:solidFill>
                  <a:srgbClr val="64776B"/>
                </a:solidFill>
                <a:latin typeface="Noto Sans"/>
              </a:defRPr>
            </a:pPr>
            <a:r>
              <a:t>— Ҳарорат ва шамол</a:t>
            </a:r>
          </a:p>
        </p:txBody>
      </p:sp>
      <p:sp>
        <p:nvSpPr>
          <p:cNvPr id="11" name="TextBox 10"/>
          <p:cNvSpPr txBox="1"/>
          <p:nvPr/>
        </p:nvSpPr>
        <p:spPr>
          <a:xfrm>
            <a:off x="8348472" y="4407408"/>
            <a:ext cx="3108960" cy="347472"/>
          </a:xfrm>
          <a:prstGeom prst="rect">
            <a:avLst/>
          </a:prstGeom>
          <a:noFill/>
        </p:spPr>
        <p:txBody>
          <a:bodyPr wrap="square" lIns="0" rIns="0" tIns="0" bIns="0">
            <a:spAutoFit/>
          </a:bodyPr>
          <a:lstStyle/>
          <a:p>
            <a:pPr>
              <a:lnSpc>
                <a:spcPct val="112000"/>
              </a:lnSpc>
              <a:spcBef>
                <a:spcPts val="0"/>
              </a:spcBef>
              <a:spcAft>
                <a:spcPts val="500"/>
              </a:spcAft>
              <a:defRPr sz="1600" b="0">
                <a:solidFill>
                  <a:srgbClr val="64776B"/>
                </a:solidFill>
                <a:latin typeface="Noto Sans"/>
              </a:defRPr>
            </a:pPr>
            <a:r>
              <a:t>— Бориш ва осмон</a:t>
            </a:r>
          </a:p>
        </p:txBody>
      </p:sp>
      <p:sp>
        <p:nvSpPr>
          <p:cNvPr id="12" name="Rounded Rectangle 11"/>
          <p:cNvSpPr/>
          <p:nvPr/>
        </p:nvSpPr>
        <p:spPr>
          <a:xfrm>
            <a:off x="8330183" y="5148072"/>
            <a:ext cx="3163824" cy="338328"/>
          </a:xfrm>
          <a:prstGeom prst="roundRect">
            <a:avLst>
              <a:gd name="adj" fmla="val 12000"/>
            </a:avLst>
          </a:prstGeom>
          <a:solidFill>
            <a:srgbClr val="E9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9911" y="5216652"/>
            <a:ext cx="2944368" cy="182880"/>
          </a:xfrm>
          <a:prstGeom prst="rect">
            <a:avLst/>
          </a:prstGeom>
          <a:noFill/>
        </p:spPr>
        <p:txBody>
          <a:bodyPr wrap="square" lIns="0" rIns="0" tIns="0" bIns="0">
            <a:spAutoFit/>
          </a:bodyPr>
          <a:lstStyle/>
          <a:p>
            <a:pPr>
              <a:lnSpc>
                <a:spcPct val="112000"/>
              </a:lnSpc>
              <a:spcBef>
                <a:spcPts val="0"/>
              </a:spcBef>
              <a:spcAft>
                <a:spcPts val="500"/>
              </a:spcAft>
              <a:defRPr sz="900" b="1">
                <a:solidFill>
                  <a:srgbClr val="183C31"/>
                </a:solidFill>
                <a:latin typeface="Noto Sans"/>
              </a:defRPr>
            </a:pPr>
            <a:r>
              <a:t>СОДИРОТ БА ТАҚВИМ · ICS</a:t>
            </a:r>
          </a:p>
        </p:txBody>
      </p:sp>
      <p:sp>
        <p:nvSpPr>
          <p:cNvPr id="14" name="TextBox 13"/>
          <p:cNvSpPr txBox="1"/>
          <p:nvPr/>
        </p:nvSpPr>
        <p:spPr>
          <a:xfrm>
            <a:off x="667512" y="6053328"/>
            <a:ext cx="10789920" cy="182880"/>
          </a:xfrm>
          <a:prstGeom prst="rect">
            <a:avLst/>
          </a:prstGeom>
          <a:noFill/>
        </p:spPr>
        <p:txBody>
          <a:bodyPr wrap="square" lIns="0" rIns="0" tIns="0" bIns="0">
            <a:spAutoFit/>
          </a:bodyPr>
          <a:lstStyle/>
          <a:p>
            <a:pPr>
              <a:lnSpc>
                <a:spcPct val="112000"/>
              </a:lnSpc>
              <a:spcBef>
                <a:spcPts val="0"/>
              </a:spcBef>
              <a:spcAft>
                <a:spcPts val="500"/>
              </a:spcAft>
              <a:defRPr sz="1000" b="0">
                <a:solidFill>
                  <a:srgbClr val="64776B"/>
                </a:solidFill>
                <a:latin typeface="Noto Sans"/>
              </a:defRPr>
            </a:pPr>
            <a:r>
              <a:t>Интихоби соатҳои прогнозӣ; дастурҳои бехатарии кори мушаххас риоя мешаванд.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0058400" cy="228600"/>
          </a:xfrm>
          <a:prstGeom prst="rect">
            <a:avLst/>
          </a:prstGeom>
          <a:noFill/>
        </p:spPr>
        <p:txBody>
          <a:bodyPr wrap="square" lIns="0" rIns="0" tIns="0" bIns="0">
            <a:spAutoFit/>
          </a:bodyPr>
          <a:lstStyle/>
          <a:p>
            <a:pPr>
              <a:lnSpc>
                <a:spcPct val="112000"/>
              </a:lnSpc>
              <a:spcBef>
                <a:spcPts val="0"/>
              </a:spcBef>
              <a:spcAft>
                <a:spcPts val="500"/>
              </a:spcAft>
              <a:defRPr sz="1000" b="1">
                <a:solidFill>
                  <a:srgbClr val="64776B"/>
                </a:solidFill>
                <a:latin typeface="Noto Sans"/>
              </a:defRPr>
            </a:pPr>
            <a:r>
              <a:t>05 · ХОНА ВА ОИЛА</a:t>
            </a:r>
          </a:p>
        </p:txBody>
      </p:sp>
      <p:sp>
        <p:nvSpPr>
          <p:cNvPr id="3" name="TextBox 2"/>
          <p:cNvSpPr txBox="1"/>
          <p:nvPr/>
        </p:nvSpPr>
        <p:spPr>
          <a:xfrm>
            <a:off x="594360" y="896112"/>
            <a:ext cx="10972800" cy="941832"/>
          </a:xfrm>
          <a:prstGeom prst="rect">
            <a:avLst/>
          </a:prstGeom>
          <a:noFill/>
        </p:spPr>
        <p:txBody>
          <a:bodyPr wrap="square" lIns="0" rIns="0" tIns="0" bIns="0">
            <a:spAutoFit/>
          </a:bodyPr>
          <a:lstStyle/>
          <a:p>
            <a:pPr>
              <a:lnSpc>
                <a:spcPct val="112000"/>
              </a:lnSpc>
              <a:spcBef>
                <a:spcPts val="0"/>
              </a:spcBef>
              <a:spcAft>
                <a:spcPts val="500"/>
              </a:spcAft>
              <a:defRPr sz="3100" b="0">
                <a:solidFill>
                  <a:srgbClr val="203C32"/>
                </a:solidFill>
                <a:latin typeface="Noto Serif"/>
              </a:defRPr>
            </a:pPr>
            <a:r>
              <a:t>Одати хурд. Сарфаи намоён.</a:t>
            </a:r>
          </a:p>
        </p:txBody>
      </p:sp>
      <p:cxnSp>
        <p:nvCxnSpPr>
          <p:cNvPr id="4" name="Connector 3"/>
          <p:cNvCxnSpPr/>
          <p:nvPr/>
        </p:nvCxnSpPr>
        <p:spPr>
          <a:xfrm>
            <a:off x="594360" y="6437376"/>
            <a:ext cx="11000232" cy="0"/>
          </a:xfrm>
          <a:prstGeom prst="line">
            <a:avLst/>
          </a:prstGeom>
          <a:ln w="8255">
            <a:solidFill>
              <a:srgbClr val="D9E0D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315200" cy="182880"/>
          </a:xfrm>
          <a:prstGeom prst="rect">
            <a:avLst/>
          </a:prstGeom>
          <a:noFill/>
        </p:spPr>
        <p:txBody>
          <a:bodyPr wrap="square" lIns="0" rIns="0" tIns="0" bIns="0">
            <a:spAutoFit/>
          </a:bodyPr>
          <a:lstStyle/>
          <a:p>
            <a:pPr>
              <a:lnSpc>
                <a:spcPct val="112000"/>
              </a:lnSpc>
              <a:spcBef>
                <a:spcPts val="0"/>
              </a:spcBef>
              <a:spcAft>
                <a:spcPts val="500"/>
              </a:spcAft>
              <a:defRPr sz="900" b="0">
                <a:solidFill>
                  <a:srgbClr val="64776B"/>
                </a:solidFill>
                <a:latin typeface="Noto Sans"/>
              </a:defRPr>
            </a:pPr>
            <a:r>
              <a:t>ОБҲУШ  /  Идеяи ман — калиди фардо  /  2026</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2000"/>
              </a:lnSpc>
              <a:spcBef>
                <a:spcPts val="0"/>
              </a:spcBef>
              <a:spcAft>
                <a:spcPts val="500"/>
              </a:spcAft>
              <a:defRPr sz="1000" b="0">
                <a:solidFill>
                  <a:srgbClr val="64776B"/>
                </a:solidFill>
                <a:latin typeface="Noto Sans"/>
              </a:defRPr>
            </a:pPr>
            <a:r>
              <a:t>06 / 10</a:t>
            </a:r>
          </a:p>
        </p:txBody>
      </p:sp>
      <p:sp>
        <p:nvSpPr>
          <p:cNvPr id="7" name="Rounded Rectangle 6"/>
          <p:cNvSpPr/>
          <p:nvPr/>
        </p:nvSpPr>
        <p:spPr>
          <a:xfrm>
            <a:off x="594360" y="2057400"/>
            <a:ext cx="5504688" cy="3977639"/>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368296"/>
            <a:ext cx="4937760" cy="347472"/>
          </a:xfrm>
          <a:prstGeom prst="rect">
            <a:avLst/>
          </a:prstGeom>
          <a:noFill/>
        </p:spPr>
        <p:txBody>
          <a:bodyPr wrap="square" lIns="0" rIns="0" tIns="0" bIns="0">
            <a:spAutoFit/>
          </a:bodyPr>
          <a:lstStyle/>
          <a:p>
            <a:pPr>
              <a:lnSpc>
                <a:spcPct val="112000"/>
              </a:lnSpc>
              <a:spcBef>
                <a:spcPts val="0"/>
              </a:spcBef>
              <a:spcAft>
                <a:spcPts val="500"/>
              </a:spcAft>
              <a:defRPr sz="1200" b="1">
                <a:solidFill>
                  <a:srgbClr val="64776B"/>
                </a:solidFill>
                <a:latin typeface="Noto Sans"/>
              </a:defRPr>
            </a:pPr>
            <a:r>
              <a:t>МИСОЛИ ҲИСОБӢ</a:t>
            </a:r>
          </a:p>
        </p:txBody>
      </p:sp>
      <p:sp>
        <p:nvSpPr>
          <p:cNvPr id="9" name="TextBox 8"/>
          <p:cNvSpPr txBox="1"/>
          <p:nvPr/>
        </p:nvSpPr>
        <p:spPr>
          <a:xfrm>
            <a:off x="905256" y="3108960"/>
            <a:ext cx="3017520" cy="320040"/>
          </a:xfrm>
          <a:prstGeom prst="rect">
            <a:avLst/>
          </a:prstGeom>
          <a:noFill/>
        </p:spPr>
        <p:txBody>
          <a:bodyPr wrap="square" lIns="0" rIns="0" tIns="0" bIns="0">
            <a:spAutoFit/>
          </a:bodyPr>
          <a:lstStyle/>
          <a:p>
            <a:pPr>
              <a:lnSpc>
                <a:spcPct val="112000"/>
              </a:lnSpc>
              <a:spcBef>
                <a:spcPts val="0"/>
              </a:spcBef>
              <a:spcAft>
                <a:spcPts val="500"/>
              </a:spcAft>
              <a:defRPr sz="1700" b="1">
                <a:solidFill>
                  <a:srgbClr val="203C32"/>
                </a:solidFill>
                <a:latin typeface="Noto Sans"/>
              </a:defRPr>
            </a:pPr>
            <a:r>
              <a:t>Ҳозир: 8 дақиқа</a:t>
            </a:r>
          </a:p>
        </p:txBody>
      </p:sp>
      <p:sp>
        <p:nvSpPr>
          <p:cNvPr id="10" name="TextBox 9"/>
          <p:cNvSpPr txBox="1"/>
          <p:nvPr/>
        </p:nvSpPr>
        <p:spPr>
          <a:xfrm>
            <a:off x="3931920" y="3108960"/>
            <a:ext cx="1773936" cy="320040"/>
          </a:xfrm>
          <a:prstGeom prst="rect">
            <a:avLst/>
          </a:prstGeom>
          <a:noFill/>
        </p:spPr>
        <p:txBody>
          <a:bodyPr wrap="square" lIns="0" rIns="0" tIns="0" bIns="0">
            <a:spAutoFit/>
          </a:bodyPr>
          <a:lstStyle/>
          <a:p>
            <a:pPr algn="r">
              <a:lnSpc>
                <a:spcPct val="112000"/>
              </a:lnSpc>
              <a:spcBef>
                <a:spcPts val="0"/>
              </a:spcBef>
              <a:spcAft>
                <a:spcPts val="500"/>
              </a:spcAft>
              <a:defRPr sz="1400" b="0">
                <a:solidFill>
                  <a:srgbClr val="64776B"/>
                </a:solidFill>
                <a:latin typeface="Noto Sans"/>
              </a:defRPr>
            </a:pPr>
            <a:r>
              <a:t>288 л / рӯз</a:t>
            </a:r>
          </a:p>
        </p:txBody>
      </p:sp>
      <p:sp>
        <p:nvSpPr>
          <p:cNvPr id="11" name="Rounded Rectangle 10"/>
          <p:cNvSpPr/>
          <p:nvPr/>
        </p:nvSpPr>
        <p:spPr>
          <a:xfrm>
            <a:off x="914400" y="3584448"/>
            <a:ext cx="4434840" cy="219456"/>
          </a:xfrm>
          <a:prstGeom prst="roundRect">
            <a:avLst>
              <a:gd name="adj" fmla="val 12000"/>
            </a:avLst>
          </a:prstGeom>
          <a:solidFill>
            <a:srgbClr val="6477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4187952"/>
            <a:ext cx="3017520" cy="320040"/>
          </a:xfrm>
          <a:prstGeom prst="rect">
            <a:avLst/>
          </a:prstGeom>
          <a:noFill/>
        </p:spPr>
        <p:txBody>
          <a:bodyPr wrap="square" lIns="0" rIns="0" tIns="0" bIns="0">
            <a:spAutoFit/>
          </a:bodyPr>
          <a:lstStyle/>
          <a:p>
            <a:pPr>
              <a:lnSpc>
                <a:spcPct val="112000"/>
              </a:lnSpc>
              <a:spcBef>
                <a:spcPts val="0"/>
              </a:spcBef>
              <a:spcAft>
                <a:spcPts val="500"/>
              </a:spcAft>
              <a:defRPr sz="1700" b="1">
                <a:solidFill>
                  <a:srgbClr val="203C32"/>
                </a:solidFill>
                <a:latin typeface="Noto Sans"/>
              </a:defRPr>
            </a:pPr>
            <a:r>
              <a:t>Пас аз тағйир: 5 дақиқа</a:t>
            </a:r>
          </a:p>
        </p:txBody>
      </p:sp>
      <p:sp>
        <p:nvSpPr>
          <p:cNvPr id="13" name="TextBox 12"/>
          <p:cNvSpPr txBox="1"/>
          <p:nvPr/>
        </p:nvSpPr>
        <p:spPr>
          <a:xfrm>
            <a:off x="3931920" y="4187952"/>
            <a:ext cx="1773936" cy="320040"/>
          </a:xfrm>
          <a:prstGeom prst="rect">
            <a:avLst/>
          </a:prstGeom>
          <a:noFill/>
        </p:spPr>
        <p:txBody>
          <a:bodyPr wrap="square" lIns="0" rIns="0" tIns="0" bIns="0">
            <a:spAutoFit/>
          </a:bodyPr>
          <a:lstStyle/>
          <a:p>
            <a:pPr algn="r">
              <a:lnSpc>
                <a:spcPct val="112000"/>
              </a:lnSpc>
              <a:spcBef>
                <a:spcPts val="0"/>
              </a:spcBef>
              <a:spcAft>
                <a:spcPts val="500"/>
              </a:spcAft>
              <a:defRPr sz="1400" b="0">
                <a:solidFill>
                  <a:srgbClr val="64776B"/>
                </a:solidFill>
                <a:latin typeface="Noto Sans"/>
              </a:defRPr>
            </a:pPr>
            <a:r>
              <a:t>180 л / рӯз</a:t>
            </a:r>
          </a:p>
        </p:txBody>
      </p:sp>
      <p:sp>
        <p:nvSpPr>
          <p:cNvPr id="14" name="Rounded Rectangle 13"/>
          <p:cNvSpPr/>
          <p:nvPr/>
        </p:nvSpPr>
        <p:spPr>
          <a:xfrm>
            <a:off x="914400" y="4663440"/>
            <a:ext cx="2770632" cy="219456"/>
          </a:xfrm>
          <a:prstGeom prst="roundRect">
            <a:avLst>
              <a:gd name="adj" fmla="val 12000"/>
            </a:avLst>
          </a:prstGeom>
          <a:solidFill>
            <a:srgbClr val="23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 y="5312664"/>
            <a:ext cx="4937760" cy="384048"/>
          </a:xfrm>
          <a:prstGeom prst="rect">
            <a:avLst/>
          </a:prstGeom>
          <a:noFill/>
        </p:spPr>
        <p:txBody>
          <a:bodyPr wrap="square" lIns="0" rIns="0" tIns="0" bIns="0">
            <a:spAutoFit/>
          </a:bodyPr>
          <a:lstStyle/>
          <a:p>
            <a:pPr>
              <a:lnSpc>
                <a:spcPct val="112000"/>
              </a:lnSpc>
              <a:spcBef>
                <a:spcPts val="0"/>
              </a:spcBef>
              <a:spcAft>
                <a:spcPts val="500"/>
              </a:spcAft>
              <a:defRPr sz="1200" b="0">
                <a:solidFill>
                  <a:srgbClr val="64776B"/>
                </a:solidFill>
                <a:latin typeface="Noto Sans"/>
              </a:defRPr>
            </a:pPr>
            <a:r>
              <a:t>4 нафар × 9 л/дақ · танҳо истифодаи душ</a:t>
            </a:r>
          </a:p>
        </p:txBody>
      </p:sp>
      <p:sp>
        <p:nvSpPr>
          <p:cNvPr id="16" name="TextBox 15"/>
          <p:cNvSpPr txBox="1"/>
          <p:nvPr/>
        </p:nvSpPr>
        <p:spPr>
          <a:xfrm>
            <a:off x="6565392" y="2368296"/>
            <a:ext cx="4754880" cy="365760"/>
          </a:xfrm>
          <a:prstGeom prst="rect">
            <a:avLst/>
          </a:prstGeom>
          <a:noFill/>
        </p:spPr>
        <p:txBody>
          <a:bodyPr wrap="square" lIns="0" rIns="0" tIns="0" bIns="0">
            <a:spAutoFit/>
          </a:bodyPr>
          <a:lstStyle/>
          <a:p>
            <a:pPr>
              <a:lnSpc>
                <a:spcPct val="112000"/>
              </a:lnSpc>
              <a:spcBef>
                <a:spcPts val="0"/>
              </a:spcBef>
              <a:spcAft>
                <a:spcPts val="500"/>
              </a:spcAft>
              <a:defRPr sz="1200" b="1">
                <a:solidFill>
                  <a:srgbClr val="64776B"/>
                </a:solidFill>
                <a:latin typeface="Noto Sans"/>
              </a:defRPr>
            </a:pPr>
            <a:r>
              <a:t>ИМКОНИ САРФА ДАР 30 РӮЗ</a:t>
            </a:r>
          </a:p>
        </p:txBody>
      </p:sp>
      <p:sp>
        <p:nvSpPr>
          <p:cNvPr id="17" name="TextBox 16"/>
          <p:cNvSpPr txBox="1"/>
          <p:nvPr/>
        </p:nvSpPr>
        <p:spPr>
          <a:xfrm>
            <a:off x="6492240" y="2990088"/>
            <a:ext cx="5029200" cy="1188720"/>
          </a:xfrm>
          <a:prstGeom prst="rect">
            <a:avLst/>
          </a:prstGeom>
          <a:noFill/>
        </p:spPr>
        <p:txBody>
          <a:bodyPr wrap="square" lIns="0" rIns="0" tIns="0" bIns="0">
            <a:spAutoFit/>
          </a:bodyPr>
          <a:lstStyle/>
          <a:p>
            <a:pPr>
              <a:lnSpc>
                <a:spcPct val="112000"/>
              </a:lnSpc>
              <a:spcBef>
                <a:spcPts val="0"/>
              </a:spcBef>
              <a:spcAft>
                <a:spcPts val="500"/>
              </a:spcAft>
              <a:defRPr sz="6800" b="1">
                <a:solidFill>
                  <a:srgbClr val="183C31"/>
                </a:solidFill>
                <a:latin typeface="Noto Sans"/>
              </a:defRPr>
            </a:pPr>
            <a:r>
              <a:t>3 240</a:t>
            </a:r>
          </a:p>
        </p:txBody>
      </p:sp>
      <p:sp>
        <p:nvSpPr>
          <p:cNvPr id="18" name="TextBox 17"/>
          <p:cNvSpPr txBox="1"/>
          <p:nvPr/>
        </p:nvSpPr>
        <p:spPr>
          <a:xfrm>
            <a:off x="6601968" y="4352544"/>
            <a:ext cx="4480560" cy="685800"/>
          </a:xfrm>
          <a:prstGeom prst="rect">
            <a:avLst/>
          </a:prstGeom>
          <a:noFill/>
        </p:spPr>
        <p:txBody>
          <a:bodyPr wrap="square" lIns="0" rIns="0" tIns="0" bIns="0">
            <a:spAutoFit/>
          </a:bodyPr>
          <a:lstStyle/>
          <a:p>
            <a:pPr>
              <a:lnSpc>
                <a:spcPct val="112000"/>
              </a:lnSpc>
              <a:spcBef>
                <a:spcPts val="0"/>
              </a:spcBef>
              <a:spcAft>
                <a:spcPts val="500"/>
              </a:spcAft>
              <a:defRPr sz="3100" b="0">
                <a:solidFill>
                  <a:srgbClr val="237F86"/>
                </a:solidFill>
                <a:latin typeface="Noto Serif"/>
              </a:defRPr>
            </a:pPr>
            <a:r>
              <a:t>литр об</a:t>
            </a:r>
          </a:p>
        </p:txBody>
      </p:sp>
      <p:sp>
        <p:nvSpPr>
          <p:cNvPr id="19" name="TextBox 18"/>
          <p:cNvSpPr txBox="1"/>
          <p:nvPr/>
        </p:nvSpPr>
        <p:spPr>
          <a:xfrm>
            <a:off x="6601968" y="5376672"/>
            <a:ext cx="4572000" cy="548640"/>
          </a:xfrm>
          <a:prstGeom prst="rect">
            <a:avLst/>
          </a:prstGeom>
          <a:noFill/>
        </p:spPr>
        <p:txBody>
          <a:bodyPr wrap="square" lIns="0" rIns="0" tIns="0" bIns="0">
            <a:spAutoFit/>
          </a:bodyPr>
          <a:lstStyle/>
          <a:p>
            <a:pPr>
              <a:lnSpc>
                <a:spcPct val="112000"/>
              </a:lnSpc>
              <a:spcBef>
                <a:spcPts val="0"/>
              </a:spcBef>
              <a:spcAft>
                <a:spcPts val="500"/>
              </a:spcAft>
              <a:defRPr sz="1800" b="0">
                <a:solidFill>
                  <a:srgbClr val="64776B"/>
                </a:solidFill>
                <a:latin typeface="Noto Sans"/>
              </a:defRPr>
            </a:pPr>
            <a:r>
              <a:t>108 л / рӯз × 30 рӯз</a:t>
            </a:r>
          </a:p>
        </p:txBody>
      </p:sp>
      <p:sp>
        <p:nvSpPr>
          <p:cNvPr id="20" name="TextBox 19"/>
          <p:cNvSpPr txBox="1"/>
          <p:nvPr/>
        </p:nvSpPr>
        <p:spPr>
          <a:xfrm>
            <a:off x="658368" y="6153912"/>
            <a:ext cx="10972800" cy="182880"/>
          </a:xfrm>
          <a:prstGeom prst="rect">
            <a:avLst/>
          </a:prstGeom>
          <a:noFill/>
        </p:spPr>
        <p:txBody>
          <a:bodyPr wrap="square" lIns="0" rIns="0" tIns="0" bIns="0">
            <a:spAutoFit/>
          </a:bodyPr>
          <a:lstStyle/>
          <a:p>
            <a:pPr>
              <a:lnSpc>
                <a:spcPct val="112000"/>
              </a:lnSpc>
              <a:spcBef>
                <a:spcPts val="0"/>
              </a:spcBef>
              <a:spcAft>
                <a:spcPts val="500"/>
              </a:spcAft>
              <a:defRPr sz="1000" b="0">
                <a:solidFill>
                  <a:srgbClr val="64776B"/>
                </a:solidFill>
                <a:latin typeface="Noto Sans"/>
              </a:defRPr>
            </a:pPr>
            <a:r>
              <a:t>Модели одатҳо бо параметрҳои интихобшуда; сарфаи воқеӣ бояд бо ҳисобкунак санҷида шавад.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0058400" cy="228600"/>
          </a:xfrm>
          <a:prstGeom prst="rect">
            <a:avLst/>
          </a:prstGeom>
          <a:noFill/>
        </p:spPr>
        <p:txBody>
          <a:bodyPr wrap="square" lIns="0" rIns="0" tIns="0" bIns="0">
            <a:spAutoFit/>
          </a:bodyPr>
          <a:lstStyle/>
          <a:p>
            <a:pPr>
              <a:lnSpc>
                <a:spcPct val="112000"/>
              </a:lnSpc>
              <a:spcBef>
                <a:spcPts val="0"/>
              </a:spcBef>
              <a:spcAft>
                <a:spcPts val="500"/>
              </a:spcAft>
              <a:defRPr sz="1000" b="1">
                <a:solidFill>
                  <a:srgbClr val="64776B"/>
                </a:solidFill>
                <a:latin typeface="Noto Sans"/>
              </a:defRPr>
            </a:pPr>
            <a:r>
              <a:t>06 · ОБ, ДАРЁ ВА ОМИЛҲОИ ХАТАР</a:t>
            </a:r>
          </a:p>
        </p:txBody>
      </p:sp>
      <p:sp>
        <p:nvSpPr>
          <p:cNvPr id="3" name="TextBox 2"/>
          <p:cNvSpPr txBox="1"/>
          <p:nvPr/>
        </p:nvSpPr>
        <p:spPr>
          <a:xfrm>
            <a:off x="594360" y="896112"/>
            <a:ext cx="10972800" cy="941832"/>
          </a:xfrm>
          <a:prstGeom prst="rect">
            <a:avLst/>
          </a:prstGeom>
          <a:noFill/>
        </p:spPr>
        <p:txBody>
          <a:bodyPr wrap="square" lIns="0" rIns="0" tIns="0" bIns="0">
            <a:spAutoFit/>
          </a:bodyPr>
          <a:lstStyle/>
          <a:p>
            <a:pPr>
              <a:lnSpc>
                <a:spcPct val="112000"/>
              </a:lnSpc>
              <a:spcBef>
                <a:spcPts val="0"/>
              </a:spcBef>
              <a:spcAft>
                <a:spcPts val="500"/>
              </a:spcAft>
              <a:defRPr sz="3100" b="0">
                <a:solidFill>
                  <a:srgbClr val="203C32"/>
                </a:solidFill>
                <a:latin typeface="Noto Serif"/>
              </a:defRPr>
            </a:pPr>
            <a:r>
              <a:t>Аз қитъаи хона то ҳавзаи Вахш.</a:t>
            </a:r>
          </a:p>
        </p:txBody>
      </p:sp>
      <p:cxnSp>
        <p:nvCxnSpPr>
          <p:cNvPr id="4" name="Connector 3"/>
          <p:cNvCxnSpPr/>
          <p:nvPr/>
        </p:nvCxnSpPr>
        <p:spPr>
          <a:xfrm>
            <a:off x="594360" y="6437376"/>
            <a:ext cx="11000232" cy="0"/>
          </a:xfrm>
          <a:prstGeom prst="line">
            <a:avLst/>
          </a:prstGeom>
          <a:ln w="8255">
            <a:solidFill>
              <a:srgbClr val="D9E0D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315200" cy="182880"/>
          </a:xfrm>
          <a:prstGeom prst="rect">
            <a:avLst/>
          </a:prstGeom>
          <a:noFill/>
        </p:spPr>
        <p:txBody>
          <a:bodyPr wrap="square" lIns="0" rIns="0" tIns="0" bIns="0">
            <a:spAutoFit/>
          </a:bodyPr>
          <a:lstStyle/>
          <a:p>
            <a:pPr>
              <a:lnSpc>
                <a:spcPct val="112000"/>
              </a:lnSpc>
              <a:spcBef>
                <a:spcPts val="0"/>
              </a:spcBef>
              <a:spcAft>
                <a:spcPts val="500"/>
              </a:spcAft>
              <a:defRPr sz="900" b="0">
                <a:solidFill>
                  <a:srgbClr val="64776B"/>
                </a:solidFill>
                <a:latin typeface="Noto Sans"/>
              </a:defRPr>
            </a:pPr>
            <a:r>
              <a:t>ОБҲУШ  /  Идеяи ман — калиди фардо  /  2026</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2000"/>
              </a:lnSpc>
              <a:spcBef>
                <a:spcPts val="0"/>
              </a:spcBef>
              <a:spcAft>
                <a:spcPts val="500"/>
              </a:spcAft>
              <a:defRPr sz="1000" b="0">
                <a:solidFill>
                  <a:srgbClr val="64776B"/>
                </a:solidFill>
                <a:latin typeface="Noto Sans"/>
              </a:defRPr>
            </a:pPr>
            <a:r>
              <a:t>07 / 10</a:t>
            </a:r>
          </a:p>
        </p:txBody>
      </p:sp>
      <p:pic>
        <p:nvPicPr>
          <p:cNvPr id="7" name="Picture 6" descr="rivers-tj.png"/>
          <p:cNvPicPr>
            <a:picLocks noChangeAspect="1"/>
          </p:cNvPicPr>
          <p:nvPr/>
        </p:nvPicPr>
        <p:blipFill>
          <a:blip r:embed="rId3"/>
          <a:stretch>
            <a:fillRect/>
          </a:stretch>
        </p:blipFill>
        <p:spPr>
          <a:xfrm>
            <a:off x="883310" y="1965960"/>
            <a:ext cx="6188659" cy="4297680"/>
          </a:xfrm>
          <a:prstGeom prst="rect">
            <a:avLst/>
          </a:prstGeom>
        </p:spPr>
      </p:pic>
      <p:sp>
        <p:nvSpPr>
          <p:cNvPr id="8" name="TextBox 7"/>
          <p:cNvSpPr txBox="1"/>
          <p:nvPr/>
        </p:nvSpPr>
        <p:spPr>
          <a:xfrm>
            <a:off x="7772400" y="2267712"/>
            <a:ext cx="3657600" cy="365760"/>
          </a:xfrm>
          <a:prstGeom prst="rect">
            <a:avLst/>
          </a:prstGeom>
          <a:noFill/>
        </p:spPr>
        <p:txBody>
          <a:bodyPr wrap="square" lIns="0" rIns="0" tIns="0" bIns="0">
            <a:spAutoFit/>
          </a:bodyPr>
          <a:lstStyle/>
          <a:p>
            <a:pPr>
              <a:lnSpc>
                <a:spcPct val="112000"/>
              </a:lnSpc>
              <a:spcBef>
                <a:spcPts val="0"/>
              </a:spcBef>
              <a:spcAft>
                <a:spcPts val="500"/>
              </a:spcAft>
              <a:defRPr sz="1900" b="1">
                <a:solidFill>
                  <a:srgbClr val="203C32"/>
                </a:solidFill>
                <a:latin typeface="Noto Sans"/>
              </a:defRPr>
            </a:pPr>
            <a:r>
              <a:t>Харита ва релеф</a:t>
            </a:r>
          </a:p>
        </p:txBody>
      </p:sp>
      <p:sp>
        <p:nvSpPr>
          <p:cNvPr id="9" name="TextBox 8"/>
          <p:cNvSpPr txBox="1"/>
          <p:nvPr/>
        </p:nvSpPr>
        <p:spPr>
          <a:xfrm>
            <a:off x="7772400" y="2697480"/>
            <a:ext cx="3657600" cy="384048"/>
          </a:xfrm>
          <a:prstGeom prst="rect">
            <a:avLst/>
          </a:prstGeom>
          <a:noFill/>
        </p:spPr>
        <p:txBody>
          <a:bodyPr wrap="square" lIns="0" rIns="0" tIns="0" bIns="0">
            <a:spAutoFit/>
          </a:bodyPr>
          <a:lstStyle/>
          <a:p>
            <a:pPr>
              <a:lnSpc>
                <a:spcPct val="112000"/>
              </a:lnSpc>
              <a:spcBef>
                <a:spcPts val="0"/>
              </a:spcBef>
              <a:spcAft>
                <a:spcPts val="500"/>
              </a:spcAft>
              <a:defRPr sz="1300" b="0">
                <a:solidFill>
                  <a:srgbClr val="64776B"/>
                </a:solidFill>
                <a:latin typeface="Noto Sans"/>
              </a:defRPr>
            </a:pPr>
            <a:r>
              <a:t>Норак, Рашт ва болооб</a:t>
            </a:r>
          </a:p>
        </p:txBody>
      </p:sp>
      <p:sp>
        <p:nvSpPr>
          <p:cNvPr id="10" name="TextBox 9"/>
          <p:cNvSpPr txBox="1"/>
          <p:nvPr/>
        </p:nvSpPr>
        <p:spPr>
          <a:xfrm>
            <a:off x="7772400" y="3255264"/>
            <a:ext cx="3657600" cy="365760"/>
          </a:xfrm>
          <a:prstGeom prst="rect">
            <a:avLst/>
          </a:prstGeom>
          <a:noFill/>
        </p:spPr>
        <p:txBody>
          <a:bodyPr wrap="square" lIns="0" rIns="0" tIns="0" bIns="0">
            <a:spAutoFit/>
          </a:bodyPr>
          <a:lstStyle/>
          <a:p>
            <a:pPr>
              <a:lnSpc>
                <a:spcPct val="112000"/>
              </a:lnSpc>
              <a:spcBef>
                <a:spcPts val="0"/>
              </a:spcBef>
              <a:spcAft>
                <a:spcPts val="500"/>
              </a:spcAft>
              <a:defRPr sz="1900" b="1">
                <a:solidFill>
                  <a:srgbClr val="203C32"/>
                </a:solidFill>
                <a:latin typeface="Noto Sans"/>
              </a:defRPr>
            </a:pPr>
            <a:r>
              <a:t>Ҷараён ва сенария</a:t>
            </a:r>
          </a:p>
        </p:txBody>
      </p:sp>
      <p:sp>
        <p:nvSpPr>
          <p:cNvPr id="11" name="TextBox 10"/>
          <p:cNvSpPr txBox="1"/>
          <p:nvPr/>
        </p:nvSpPr>
        <p:spPr>
          <a:xfrm>
            <a:off x="7772400" y="3685032"/>
            <a:ext cx="3657600" cy="384048"/>
          </a:xfrm>
          <a:prstGeom prst="rect">
            <a:avLst/>
          </a:prstGeom>
          <a:noFill/>
        </p:spPr>
        <p:txBody>
          <a:bodyPr wrap="square" lIns="0" rIns="0" tIns="0" bIns="0">
            <a:spAutoFit/>
          </a:bodyPr>
          <a:lstStyle/>
          <a:p>
            <a:pPr>
              <a:lnSpc>
                <a:spcPct val="112000"/>
              </a:lnSpc>
              <a:spcBef>
                <a:spcPts val="0"/>
              </a:spcBef>
              <a:spcAft>
                <a:spcPts val="500"/>
              </a:spcAft>
              <a:defRPr sz="1300" b="0">
                <a:solidFill>
                  <a:srgbClr val="64776B"/>
                </a:solidFill>
                <a:latin typeface="Noto Sans"/>
              </a:defRPr>
            </a:pPr>
            <a:r>
              <a:t>Пешгӯӣ, НБО ва обёрӣ</a:t>
            </a:r>
          </a:p>
        </p:txBody>
      </p:sp>
      <p:sp>
        <p:nvSpPr>
          <p:cNvPr id="12" name="TextBox 11"/>
          <p:cNvSpPr txBox="1"/>
          <p:nvPr/>
        </p:nvSpPr>
        <p:spPr>
          <a:xfrm>
            <a:off x="7772400" y="4242816"/>
            <a:ext cx="3657600" cy="365760"/>
          </a:xfrm>
          <a:prstGeom prst="rect">
            <a:avLst/>
          </a:prstGeom>
          <a:noFill/>
        </p:spPr>
        <p:txBody>
          <a:bodyPr wrap="square" lIns="0" rIns="0" tIns="0" bIns="0">
            <a:spAutoFit/>
          </a:bodyPr>
          <a:lstStyle/>
          <a:p>
            <a:pPr>
              <a:lnSpc>
                <a:spcPct val="112000"/>
              </a:lnSpc>
              <a:spcBef>
                <a:spcPts val="0"/>
              </a:spcBef>
              <a:spcAft>
                <a:spcPts val="500"/>
              </a:spcAft>
              <a:defRPr sz="1900" b="1">
                <a:solidFill>
                  <a:srgbClr val="203C32"/>
                </a:solidFill>
                <a:latin typeface="Noto Sans"/>
              </a:defRPr>
            </a:pPr>
            <a:r>
              <a:t>Бориш ва таваҷҷуҳ</a:t>
            </a:r>
          </a:p>
        </p:txBody>
      </p:sp>
      <p:sp>
        <p:nvSpPr>
          <p:cNvPr id="13" name="TextBox 12"/>
          <p:cNvSpPr txBox="1"/>
          <p:nvPr/>
        </p:nvSpPr>
        <p:spPr>
          <a:xfrm>
            <a:off x="7772400" y="4672584"/>
            <a:ext cx="3657600" cy="384048"/>
          </a:xfrm>
          <a:prstGeom prst="rect">
            <a:avLst/>
          </a:prstGeom>
          <a:noFill/>
        </p:spPr>
        <p:txBody>
          <a:bodyPr wrap="square" lIns="0" rIns="0" tIns="0" bIns="0">
            <a:spAutoFit/>
          </a:bodyPr>
          <a:lstStyle/>
          <a:p>
            <a:pPr>
              <a:lnSpc>
                <a:spcPct val="112000"/>
              </a:lnSpc>
              <a:spcBef>
                <a:spcPts val="0"/>
              </a:spcBef>
              <a:spcAft>
                <a:spcPts val="500"/>
              </a:spcAft>
              <a:defRPr sz="1300" b="0">
                <a:solidFill>
                  <a:srgbClr val="64776B"/>
                </a:solidFill>
                <a:latin typeface="Noto Sans"/>
              </a:defRPr>
            </a:pPr>
            <a:r>
              <a:t>Шарҳи сабаби аломат дар харита</a:t>
            </a:r>
          </a:p>
        </p:txBody>
      </p:sp>
      <p:sp>
        <p:nvSpPr>
          <p:cNvPr id="14" name="Rounded Rectangle 13"/>
          <p:cNvSpPr/>
          <p:nvPr/>
        </p:nvSpPr>
        <p:spPr>
          <a:xfrm>
            <a:off x="7726679" y="5404104"/>
            <a:ext cx="3840480" cy="594360"/>
          </a:xfrm>
          <a:prstGeom prst="roundRect">
            <a:avLst>
              <a:gd name="adj" fmla="val 12000"/>
            </a:avLst>
          </a:prstGeom>
          <a:solidFill>
            <a:srgbClr val="EEE3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91272" y="5522976"/>
            <a:ext cx="3511296" cy="384048"/>
          </a:xfrm>
          <a:prstGeom prst="rect">
            <a:avLst/>
          </a:prstGeom>
          <a:noFill/>
        </p:spPr>
        <p:txBody>
          <a:bodyPr wrap="square" lIns="0" rIns="0" tIns="0" bIns="0">
            <a:spAutoFit/>
          </a:bodyPr>
          <a:lstStyle/>
          <a:p>
            <a:pPr>
              <a:lnSpc>
                <a:spcPct val="112000"/>
              </a:lnSpc>
              <a:spcBef>
                <a:spcPts val="0"/>
              </a:spcBef>
              <a:spcAft>
                <a:spcPts val="500"/>
              </a:spcAft>
              <a:defRPr sz="1100" b="0">
                <a:solidFill>
                  <a:srgbClr val="203C32"/>
                </a:solidFill>
                <a:latin typeface="Noto Sans"/>
              </a:defRPr>
            </a:pPr>
            <a:r>
              <a:t>Барои пешгӯии сел: маълумот ва</a:t>
            </a:r>
          </a:p>
          <a:p>
            <a:pPr>
              <a:lnSpc>
                <a:spcPct val="112000"/>
              </a:lnSpc>
              <a:spcBef>
                <a:spcPts val="0"/>
              </a:spcBef>
              <a:spcAft>
                <a:spcPts val="500"/>
              </a:spcAft>
              <a:defRPr sz="1100" b="0">
                <a:solidFill>
                  <a:srgbClr val="203C32"/>
                </a:solidFill>
                <a:latin typeface="Noto Sans"/>
              </a:defRPr>
            </a:pPr>
            <a:r>
              <a:t>санҷиши маҳаллӣ ҳанӯз заруранд.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83C31"/>
        </a:solidFill>
        <a:effectLst/>
      </p:bgPr>
    </p:bg>
    <p:spTree>
      <p:nvGrpSpPr>
        <p:cNvPr id="1" name=""/>
        <p:cNvGrpSpPr/>
        <p:nvPr/>
      </p:nvGrpSpPr>
      <p:grpSpPr/>
      <p:sp>
        <p:nvSpPr>
          <p:cNvPr id="2" name="TextBox 1"/>
          <p:cNvSpPr txBox="1"/>
          <p:nvPr/>
        </p:nvSpPr>
        <p:spPr>
          <a:xfrm>
            <a:off x="594360" y="384048"/>
            <a:ext cx="10058400" cy="228600"/>
          </a:xfrm>
          <a:prstGeom prst="rect">
            <a:avLst/>
          </a:prstGeom>
          <a:noFill/>
        </p:spPr>
        <p:txBody>
          <a:bodyPr wrap="square" lIns="0" rIns="0" tIns="0" bIns="0">
            <a:spAutoFit/>
          </a:bodyPr>
          <a:lstStyle/>
          <a:p>
            <a:pPr>
              <a:lnSpc>
                <a:spcPct val="112000"/>
              </a:lnSpc>
              <a:spcBef>
                <a:spcPts val="0"/>
              </a:spcBef>
              <a:spcAft>
                <a:spcPts val="500"/>
              </a:spcAft>
              <a:defRPr sz="1000" b="1">
                <a:solidFill>
                  <a:srgbClr val="D7EAA5"/>
                </a:solidFill>
                <a:latin typeface="Noto Sans"/>
              </a:defRPr>
            </a:pPr>
            <a:r>
              <a:t>07 · ЗЕҲНИ СУНЪӢ ВА ТАҲЛИЛИ РАҚАМӢ</a:t>
            </a:r>
          </a:p>
        </p:txBody>
      </p:sp>
      <p:sp>
        <p:nvSpPr>
          <p:cNvPr id="3" name="TextBox 2"/>
          <p:cNvSpPr txBox="1"/>
          <p:nvPr/>
        </p:nvSpPr>
        <p:spPr>
          <a:xfrm>
            <a:off x="594360" y="896112"/>
            <a:ext cx="10972800" cy="941832"/>
          </a:xfrm>
          <a:prstGeom prst="rect">
            <a:avLst/>
          </a:prstGeom>
          <a:noFill/>
        </p:spPr>
        <p:txBody>
          <a:bodyPr wrap="square" lIns="0" rIns="0" tIns="0" bIns="0">
            <a:spAutoFit/>
          </a:bodyPr>
          <a:lstStyle/>
          <a:p>
            <a:pPr>
              <a:lnSpc>
                <a:spcPct val="112000"/>
              </a:lnSpc>
              <a:spcBef>
                <a:spcPts val="0"/>
              </a:spcBef>
              <a:spcAft>
                <a:spcPts val="500"/>
              </a:spcAft>
              <a:defRPr sz="3100" b="0">
                <a:solidFill>
                  <a:srgbClr val="FFFFFF"/>
                </a:solidFill>
                <a:latin typeface="Noto Serif"/>
              </a:defRPr>
            </a:pPr>
            <a:r>
              <a:t>Маълумот → ҳисоб → шарҳи фаҳмо</a:t>
            </a:r>
          </a:p>
        </p:txBody>
      </p:sp>
      <p:cxnSp>
        <p:nvCxnSpPr>
          <p:cNvPr id="4" name="Connector 3"/>
          <p:cNvCxnSpPr/>
          <p:nvPr/>
        </p:nvCxnSpPr>
        <p:spPr>
          <a:xfrm>
            <a:off x="594360" y="6437376"/>
            <a:ext cx="11000232" cy="0"/>
          </a:xfrm>
          <a:prstGeom prst="line">
            <a:avLst/>
          </a:prstGeom>
          <a:ln w="8255">
            <a:solidFill>
              <a:srgbClr val="64776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315200" cy="182880"/>
          </a:xfrm>
          <a:prstGeom prst="rect">
            <a:avLst/>
          </a:prstGeom>
          <a:noFill/>
        </p:spPr>
        <p:txBody>
          <a:bodyPr wrap="square" lIns="0" rIns="0" tIns="0" bIns="0">
            <a:spAutoFit/>
          </a:bodyPr>
          <a:lstStyle/>
          <a:p>
            <a:pPr>
              <a:lnSpc>
                <a:spcPct val="112000"/>
              </a:lnSpc>
              <a:spcBef>
                <a:spcPts val="0"/>
              </a:spcBef>
              <a:spcAft>
                <a:spcPts val="500"/>
              </a:spcAft>
              <a:defRPr sz="900" b="0">
                <a:solidFill>
                  <a:srgbClr val="D7EAA5"/>
                </a:solidFill>
                <a:latin typeface="Noto Sans"/>
              </a:defRPr>
            </a:pPr>
            <a:r>
              <a:t>ОБҲУШ  /  Идеяи ман — калиди фардо  /  2026</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2000"/>
              </a:lnSpc>
              <a:spcBef>
                <a:spcPts val="0"/>
              </a:spcBef>
              <a:spcAft>
                <a:spcPts val="500"/>
              </a:spcAft>
              <a:defRPr sz="1000" b="0">
                <a:solidFill>
                  <a:srgbClr val="D7EAA5"/>
                </a:solidFill>
                <a:latin typeface="Noto Sans"/>
              </a:defRPr>
            </a:pPr>
            <a:r>
              <a:t>08 / 10</a:t>
            </a:r>
          </a:p>
        </p:txBody>
      </p:sp>
      <p:sp>
        <p:nvSpPr>
          <p:cNvPr id="7" name="Rounded Rectangle 6"/>
          <p:cNvSpPr/>
          <p:nvPr/>
        </p:nvSpPr>
        <p:spPr>
          <a:xfrm>
            <a:off x="594360" y="2075688"/>
            <a:ext cx="3538728" cy="3621024"/>
          </a:xfrm>
          <a:prstGeom prst="roundRect">
            <a:avLst>
              <a:gd name="adj" fmla="val 120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331720"/>
            <a:ext cx="3090672" cy="301752"/>
          </a:xfrm>
          <a:prstGeom prst="rect">
            <a:avLst/>
          </a:prstGeom>
          <a:noFill/>
        </p:spPr>
        <p:txBody>
          <a:bodyPr wrap="square" lIns="0" rIns="0" tIns="0" bIns="0">
            <a:spAutoFit/>
          </a:bodyPr>
          <a:lstStyle/>
          <a:p>
            <a:pPr>
              <a:lnSpc>
                <a:spcPct val="112000"/>
              </a:lnSpc>
              <a:spcBef>
                <a:spcPts val="0"/>
              </a:spcBef>
              <a:spcAft>
                <a:spcPts val="500"/>
              </a:spcAft>
              <a:defRPr sz="1200" b="1">
                <a:solidFill>
                  <a:srgbClr val="64776B"/>
                </a:solidFill>
                <a:latin typeface="Noto Sans"/>
              </a:defRPr>
            </a:pPr>
            <a:r>
              <a:t>МАНБАЪҲО</a:t>
            </a:r>
          </a:p>
        </p:txBody>
      </p:sp>
      <p:sp>
        <p:nvSpPr>
          <p:cNvPr id="9" name="TextBox 8"/>
          <p:cNvSpPr txBox="1"/>
          <p:nvPr/>
        </p:nvSpPr>
        <p:spPr>
          <a:xfrm>
            <a:off x="822960" y="2788920"/>
            <a:ext cx="3072384" cy="822960"/>
          </a:xfrm>
          <a:prstGeom prst="rect">
            <a:avLst/>
          </a:prstGeom>
          <a:noFill/>
        </p:spPr>
        <p:txBody>
          <a:bodyPr wrap="square" lIns="0" rIns="0" tIns="0" bIns="0">
            <a:spAutoFit/>
          </a:bodyPr>
          <a:lstStyle/>
          <a:p>
            <a:pPr>
              <a:lnSpc>
                <a:spcPct val="112000"/>
              </a:lnSpc>
              <a:spcBef>
                <a:spcPts val="0"/>
              </a:spcBef>
              <a:spcAft>
                <a:spcPts val="500"/>
              </a:spcAft>
              <a:defRPr sz="2200" b="1">
                <a:solidFill>
                  <a:srgbClr val="203C32"/>
                </a:solidFill>
                <a:latin typeface="Noto Sans"/>
              </a:defRPr>
            </a:pPr>
            <a:r>
              <a:t>Обу ҳаво, дарё ва релеф</a:t>
            </a:r>
          </a:p>
        </p:txBody>
      </p:sp>
      <p:sp>
        <p:nvSpPr>
          <p:cNvPr id="10" name="Rounded Rectangle 9"/>
          <p:cNvSpPr/>
          <p:nvPr/>
        </p:nvSpPr>
        <p:spPr>
          <a:xfrm>
            <a:off x="4325112" y="2075688"/>
            <a:ext cx="3538728" cy="3621024"/>
          </a:xfrm>
          <a:prstGeom prst="roundRect">
            <a:avLst>
              <a:gd name="adj" fmla="val 120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53712" y="2331720"/>
            <a:ext cx="3090672" cy="301752"/>
          </a:xfrm>
          <a:prstGeom prst="rect">
            <a:avLst/>
          </a:prstGeom>
          <a:noFill/>
        </p:spPr>
        <p:txBody>
          <a:bodyPr wrap="square" lIns="0" rIns="0" tIns="0" bIns="0">
            <a:spAutoFit/>
          </a:bodyPr>
          <a:lstStyle/>
          <a:p>
            <a:pPr>
              <a:lnSpc>
                <a:spcPct val="112000"/>
              </a:lnSpc>
              <a:spcBef>
                <a:spcPts val="0"/>
              </a:spcBef>
              <a:spcAft>
                <a:spcPts val="500"/>
              </a:spcAft>
              <a:defRPr sz="1200" b="1">
                <a:solidFill>
                  <a:srgbClr val="64776B"/>
                </a:solidFill>
                <a:latin typeface="Noto Sans"/>
              </a:defRPr>
            </a:pPr>
            <a:r>
              <a:t>МУҲАРРИК</a:t>
            </a:r>
          </a:p>
        </p:txBody>
      </p:sp>
      <p:sp>
        <p:nvSpPr>
          <p:cNvPr id="12" name="TextBox 11"/>
          <p:cNvSpPr txBox="1"/>
          <p:nvPr/>
        </p:nvSpPr>
        <p:spPr>
          <a:xfrm>
            <a:off x="4553712" y="2788920"/>
            <a:ext cx="3072384" cy="822960"/>
          </a:xfrm>
          <a:prstGeom prst="rect">
            <a:avLst/>
          </a:prstGeom>
          <a:noFill/>
        </p:spPr>
        <p:txBody>
          <a:bodyPr wrap="square" lIns="0" rIns="0" tIns="0" bIns="0">
            <a:spAutoFit/>
          </a:bodyPr>
          <a:lstStyle/>
          <a:p>
            <a:pPr>
              <a:lnSpc>
                <a:spcPct val="112000"/>
              </a:lnSpc>
              <a:spcBef>
                <a:spcPts val="0"/>
              </a:spcBef>
              <a:spcAft>
                <a:spcPts val="500"/>
              </a:spcAft>
              <a:defRPr sz="2200" b="1">
                <a:solidFill>
                  <a:srgbClr val="203C32"/>
                </a:solidFill>
                <a:latin typeface="Noto Sans"/>
              </a:defRPr>
            </a:pPr>
            <a:r>
              <a:t>Модел ва қоидаҳои санҷишпазир</a:t>
            </a:r>
          </a:p>
        </p:txBody>
      </p:sp>
      <p:sp>
        <p:nvSpPr>
          <p:cNvPr id="13" name="Rounded Rectangle 12"/>
          <p:cNvSpPr/>
          <p:nvPr/>
        </p:nvSpPr>
        <p:spPr>
          <a:xfrm>
            <a:off x="8055864" y="2075688"/>
            <a:ext cx="3538728" cy="3621024"/>
          </a:xfrm>
          <a:prstGeom prst="roundRect">
            <a:avLst>
              <a:gd name="adj" fmla="val 120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4464" y="2331720"/>
            <a:ext cx="3090672" cy="301752"/>
          </a:xfrm>
          <a:prstGeom prst="rect">
            <a:avLst/>
          </a:prstGeom>
          <a:noFill/>
        </p:spPr>
        <p:txBody>
          <a:bodyPr wrap="square" lIns="0" rIns="0" tIns="0" bIns="0">
            <a:spAutoFit/>
          </a:bodyPr>
          <a:lstStyle/>
          <a:p>
            <a:pPr>
              <a:lnSpc>
                <a:spcPct val="112000"/>
              </a:lnSpc>
              <a:spcBef>
                <a:spcPts val="0"/>
              </a:spcBef>
              <a:spcAft>
                <a:spcPts val="500"/>
              </a:spcAft>
              <a:defRPr sz="1200" b="1">
                <a:solidFill>
                  <a:srgbClr val="64776B"/>
                </a:solidFill>
                <a:latin typeface="Noto Sans"/>
              </a:defRPr>
            </a:pPr>
            <a:r>
              <a:t>НАТИҶА</a:t>
            </a:r>
          </a:p>
        </p:txBody>
      </p:sp>
      <p:sp>
        <p:nvSpPr>
          <p:cNvPr id="15" name="TextBox 14"/>
          <p:cNvSpPr txBox="1"/>
          <p:nvPr/>
        </p:nvSpPr>
        <p:spPr>
          <a:xfrm>
            <a:off x="8284464" y="2788920"/>
            <a:ext cx="3072384" cy="822960"/>
          </a:xfrm>
          <a:prstGeom prst="rect">
            <a:avLst/>
          </a:prstGeom>
          <a:noFill/>
        </p:spPr>
        <p:txBody>
          <a:bodyPr wrap="square" lIns="0" rIns="0" tIns="0" bIns="0">
            <a:spAutoFit/>
          </a:bodyPr>
          <a:lstStyle/>
          <a:p>
            <a:pPr>
              <a:lnSpc>
                <a:spcPct val="112000"/>
              </a:lnSpc>
              <a:spcBef>
                <a:spcPts val="0"/>
              </a:spcBef>
              <a:spcAft>
                <a:spcPts val="500"/>
              </a:spcAft>
              <a:defRPr sz="2200" b="1">
                <a:solidFill>
                  <a:srgbClr val="203C32"/>
                </a:solidFill>
                <a:latin typeface="Noto Sans"/>
              </a:defRPr>
            </a:pPr>
            <a:r>
              <a:t>Нақша барои корбар</a:t>
            </a:r>
          </a:p>
        </p:txBody>
      </p:sp>
      <p:sp>
        <p:nvSpPr>
          <p:cNvPr id="16" name="TextBox 15"/>
          <p:cNvSpPr txBox="1"/>
          <p:nvPr/>
        </p:nvSpPr>
        <p:spPr>
          <a:xfrm>
            <a:off x="822960" y="4041648"/>
            <a:ext cx="3017520" cy="1188720"/>
          </a:xfrm>
          <a:prstGeom prst="rect">
            <a:avLst/>
          </a:prstGeom>
          <a:noFill/>
        </p:spPr>
        <p:txBody>
          <a:bodyPr wrap="square" lIns="0" rIns="0" tIns="0" bIns="0">
            <a:spAutoFit/>
          </a:bodyPr>
          <a:lstStyle/>
          <a:p>
            <a:pPr>
              <a:lnSpc>
                <a:spcPct val="112000"/>
              </a:lnSpc>
              <a:spcBef>
                <a:spcPts val="0"/>
              </a:spcBef>
              <a:spcAft>
                <a:spcPts val="500"/>
              </a:spcAft>
              <a:defRPr sz="1500" b="0">
                <a:solidFill>
                  <a:srgbClr val="64776B"/>
                </a:solidFill>
                <a:latin typeface="Noto Sans"/>
              </a:defRPr>
            </a:pPr>
            <a:r>
              <a:t>Open-Meteo · обу ҳаво</a:t>
            </a:r>
          </a:p>
          <a:p>
            <a:pPr>
              <a:lnSpc>
                <a:spcPct val="112000"/>
              </a:lnSpc>
              <a:spcBef>
                <a:spcPts val="0"/>
              </a:spcBef>
              <a:spcAft>
                <a:spcPts val="500"/>
              </a:spcAft>
              <a:defRPr sz="1500" b="0">
                <a:solidFill>
                  <a:srgbClr val="64776B"/>
                </a:solidFill>
                <a:latin typeface="Noto Sans"/>
              </a:defRPr>
            </a:pPr>
            <a:r>
              <a:t>GloFAS · ҷараёни моделӣ</a:t>
            </a:r>
          </a:p>
          <a:p>
            <a:pPr>
              <a:lnSpc>
                <a:spcPct val="112000"/>
              </a:lnSpc>
              <a:spcBef>
                <a:spcPts val="0"/>
              </a:spcBef>
              <a:spcAft>
                <a:spcPts val="500"/>
              </a:spcAft>
              <a:defRPr sz="1500" b="0">
                <a:solidFill>
                  <a:srgbClr val="64776B"/>
                </a:solidFill>
                <a:latin typeface="Noto Sans"/>
              </a:defRPr>
            </a:pPr>
            <a:r>
              <a:t>AWS / Mapzen · релеф</a:t>
            </a:r>
          </a:p>
        </p:txBody>
      </p:sp>
      <p:sp>
        <p:nvSpPr>
          <p:cNvPr id="17" name="TextBox 16"/>
          <p:cNvSpPr txBox="1"/>
          <p:nvPr/>
        </p:nvSpPr>
        <p:spPr>
          <a:xfrm>
            <a:off x="4553712" y="4041648"/>
            <a:ext cx="3035808" cy="1280160"/>
          </a:xfrm>
          <a:prstGeom prst="rect">
            <a:avLst/>
          </a:prstGeom>
          <a:noFill/>
        </p:spPr>
        <p:txBody>
          <a:bodyPr wrap="square" lIns="0" rIns="0" tIns="0" bIns="0">
            <a:spAutoFit/>
          </a:bodyPr>
          <a:lstStyle/>
          <a:p>
            <a:pPr>
              <a:lnSpc>
                <a:spcPct val="112000"/>
              </a:lnSpc>
              <a:spcBef>
                <a:spcPts val="0"/>
              </a:spcBef>
              <a:spcAft>
                <a:spcPts val="500"/>
              </a:spcAft>
              <a:defRPr sz="1500" b="0">
                <a:solidFill>
                  <a:srgbClr val="64776B"/>
                </a:solidFill>
                <a:latin typeface="Noto Sans"/>
              </a:defRPr>
            </a:pPr>
            <a:r>
              <a:t>Ridge · пешгӯии ҷараён</a:t>
            </a:r>
          </a:p>
          <a:p>
            <a:pPr>
              <a:lnSpc>
                <a:spcPct val="112000"/>
              </a:lnSpc>
              <a:spcBef>
                <a:spcPts val="0"/>
              </a:spcBef>
              <a:spcAft>
                <a:spcPts val="500"/>
              </a:spcAft>
              <a:defRPr sz="1500" b="0">
                <a:solidFill>
                  <a:srgbClr val="64776B"/>
                </a:solidFill>
                <a:latin typeface="Noto Sans"/>
              </a:defRPr>
            </a:pPr>
            <a:r>
              <a:t>Формула · литр ва сарфа</a:t>
            </a:r>
          </a:p>
          <a:p>
            <a:pPr>
              <a:lnSpc>
                <a:spcPct val="112000"/>
              </a:lnSpc>
              <a:spcBef>
                <a:spcPts val="0"/>
              </a:spcBef>
              <a:spcAft>
                <a:spcPts val="500"/>
              </a:spcAft>
              <a:defRPr sz="1500" b="0">
                <a:solidFill>
                  <a:srgbClr val="64776B"/>
                </a:solidFill>
                <a:latin typeface="Noto Sans"/>
              </a:defRPr>
            </a:pPr>
            <a:r>
              <a:t>Қоида · соатҳои кор</a:t>
            </a:r>
          </a:p>
        </p:txBody>
      </p:sp>
      <p:sp>
        <p:nvSpPr>
          <p:cNvPr id="18" name="TextBox 17"/>
          <p:cNvSpPr txBox="1"/>
          <p:nvPr/>
        </p:nvSpPr>
        <p:spPr>
          <a:xfrm>
            <a:off x="8284464" y="4041648"/>
            <a:ext cx="3035808" cy="1280160"/>
          </a:xfrm>
          <a:prstGeom prst="rect">
            <a:avLst/>
          </a:prstGeom>
          <a:noFill/>
        </p:spPr>
        <p:txBody>
          <a:bodyPr wrap="square" lIns="0" rIns="0" tIns="0" bIns="0">
            <a:spAutoFit/>
          </a:bodyPr>
          <a:lstStyle/>
          <a:p>
            <a:pPr>
              <a:lnSpc>
                <a:spcPct val="112000"/>
              </a:lnSpc>
              <a:spcBef>
                <a:spcPts val="0"/>
              </a:spcBef>
              <a:spcAft>
                <a:spcPts val="500"/>
              </a:spcAft>
              <a:defRPr sz="1500" b="0">
                <a:solidFill>
                  <a:srgbClr val="64776B"/>
                </a:solidFill>
                <a:latin typeface="Noto Sans"/>
              </a:defRPr>
            </a:pPr>
            <a:r>
              <a:t>Ҷой + рӯз + вазифа</a:t>
            </a:r>
          </a:p>
          <a:p>
            <a:pPr>
              <a:lnSpc>
                <a:spcPct val="112000"/>
              </a:lnSpc>
              <a:spcBef>
                <a:spcPts val="0"/>
              </a:spcBef>
              <a:spcAft>
                <a:spcPts val="500"/>
              </a:spcAft>
              <a:defRPr sz="1500" b="0">
                <a:solidFill>
                  <a:srgbClr val="64776B"/>
                </a:solidFill>
                <a:latin typeface="Noto Sans"/>
              </a:defRPr>
            </a:pPr>
            <a:r>
              <a:t>Ёвари забонии ИИ</a:t>
            </a:r>
          </a:p>
          <a:p>
            <a:pPr>
              <a:lnSpc>
                <a:spcPct val="112000"/>
              </a:lnSpc>
              <a:spcBef>
                <a:spcPts val="0"/>
              </a:spcBef>
              <a:spcAft>
                <a:spcPts val="500"/>
              </a:spcAft>
              <a:defRPr sz="1500" b="0">
                <a:solidFill>
                  <a:srgbClr val="64776B"/>
                </a:solidFill>
                <a:latin typeface="Noto Sans"/>
              </a:defRPr>
            </a:pPr>
            <a:r>
              <a:t>Шарҳ ба тоҷикӣ ва русӣ</a:t>
            </a:r>
          </a:p>
        </p:txBody>
      </p:sp>
      <p:sp>
        <p:nvSpPr>
          <p:cNvPr id="19" name="TextBox 18"/>
          <p:cNvSpPr txBox="1"/>
          <p:nvPr/>
        </p:nvSpPr>
        <p:spPr>
          <a:xfrm>
            <a:off x="667512" y="5989320"/>
            <a:ext cx="10972800" cy="228600"/>
          </a:xfrm>
          <a:prstGeom prst="rect">
            <a:avLst/>
          </a:prstGeom>
          <a:noFill/>
        </p:spPr>
        <p:txBody>
          <a:bodyPr wrap="square" lIns="0" rIns="0" tIns="0" bIns="0">
            <a:spAutoFit/>
          </a:bodyPr>
          <a:lstStyle/>
          <a:p>
            <a:pPr>
              <a:lnSpc>
                <a:spcPct val="112000"/>
              </a:lnSpc>
              <a:spcBef>
                <a:spcPts val="0"/>
              </a:spcBef>
              <a:spcAft>
                <a:spcPts val="500"/>
              </a:spcAft>
              <a:defRPr sz="1000" b="0">
                <a:solidFill>
                  <a:srgbClr val="D7EAA5"/>
                </a:solidFill>
                <a:latin typeface="Noto Sans"/>
              </a:defRPr>
            </a:pPr>
            <a:r>
              <a:t>Санҷиши Ridge: 14 рӯзи ҷудошуда · маълумоти GloFAS моделӣ аст, на ченкунии гидропост.</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384048"/>
            <a:ext cx="10058400" cy="228600"/>
          </a:xfrm>
          <a:prstGeom prst="rect">
            <a:avLst/>
          </a:prstGeom>
          <a:noFill/>
        </p:spPr>
        <p:txBody>
          <a:bodyPr wrap="square" lIns="0" rIns="0" tIns="0" bIns="0">
            <a:spAutoFit/>
          </a:bodyPr>
          <a:lstStyle/>
          <a:p>
            <a:pPr>
              <a:lnSpc>
                <a:spcPct val="112000"/>
              </a:lnSpc>
              <a:spcBef>
                <a:spcPts val="0"/>
              </a:spcBef>
              <a:spcAft>
                <a:spcPts val="500"/>
              </a:spcAft>
              <a:defRPr sz="1000" b="1">
                <a:solidFill>
                  <a:srgbClr val="64776B"/>
                </a:solidFill>
                <a:latin typeface="Noto Sans"/>
              </a:defRPr>
            </a:pPr>
            <a:r>
              <a:t>08 · ҲОЛАТИ ЛОИҲА</a:t>
            </a:r>
          </a:p>
        </p:txBody>
      </p:sp>
      <p:sp>
        <p:nvSpPr>
          <p:cNvPr id="3" name="TextBox 2"/>
          <p:cNvSpPr txBox="1"/>
          <p:nvPr/>
        </p:nvSpPr>
        <p:spPr>
          <a:xfrm>
            <a:off x="594360" y="896112"/>
            <a:ext cx="10972800" cy="941832"/>
          </a:xfrm>
          <a:prstGeom prst="rect">
            <a:avLst/>
          </a:prstGeom>
          <a:noFill/>
        </p:spPr>
        <p:txBody>
          <a:bodyPr wrap="square" lIns="0" rIns="0" tIns="0" bIns="0">
            <a:spAutoFit/>
          </a:bodyPr>
          <a:lstStyle/>
          <a:p>
            <a:pPr>
              <a:lnSpc>
                <a:spcPct val="112000"/>
              </a:lnSpc>
              <a:spcBef>
                <a:spcPts val="0"/>
              </a:spcBef>
              <a:spcAft>
                <a:spcPts val="500"/>
              </a:spcAft>
              <a:defRPr sz="3100" b="0">
                <a:solidFill>
                  <a:srgbClr val="203C32"/>
                </a:solidFill>
                <a:latin typeface="Noto Serif"/>
              </a:defRPr>
            </a:pPr>
            <a:r>
              <a:t>Нусхаи корӣ, ки метавон нишон дод.</a:t>
            </a:r>
          </a:p>
        </p:txBody>
      </p:sp>
      <p:cxnSp>
        <p:nvCxnSpPr>
          <p:cNvPr id="4" name="Connector 3"/>
          <p:cNvCxnSpPr/>
          <p:nvPr/>
        </p:nvCxnSpPr>
        <p:spPr>
          <a:xfrm>
            <a:off x="594360" y="6437376"/>
            <a:ext cx="11000232" cy="0"/>
          </a:xfrm>
          <a:prstGeom prst="line">
            <a:avLst/>
          </a:prstGeom>
          <a:ln w="8255">
            <a:solidFill>
              <a:srgbClr val="D9E0D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315200" cy="182880"/>
          </a:xfrm>
          <a:prstGeom prst="rect">
            <a:avLst/>
          </a:prstGeom>
          <a:noFill/>
        </p:spPr>
        <p:txBody>
          <a:bodyPr wrap="square" lIns="0" rIns="0" tIns="0" bIns="0">
            <a:spAutoFit/>
          </a:bodyPr>
          <a:lstStyle/>
          <a:p>
            <a:pPr>
              <a:lnSpc>
                <a:spcPct val="112000"/>
              </a:lnSpc>
              <a:spcBef>
                <a:spcPts val="0"/>
              </a:spcBef>
              <a:spcAft>
                <a:spcPts val="500"/>
              </a:spcAft>
              <a:defRPr sz="900" b="0">
                <a:solidFill>
                  <a:srgbClr val="64776B"/>
                </a:solidFill>
                <a:latin typeface="Noto Sans"/>
              </a:defRPr>
            </a:pPr>
            <a:r>
              <a:t>ОБҲУШ  /  Идеяи ман — калиди фардо  /  2026</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2000"/>
              </a:lnSpc>
              <a:spcBef>
                <a:spcPts val="0"/>
              </a:spcBef>
              <a:spcAft>
                <a:spcPts val="500"/>
              </a:spcAft>
              <a:defRPr sz="1000" b="0">
                <a:solidFill>
                  <a:srgbClr val="64776B"/>
                </a:solidFill>
                <a:latin typeface="Noto Sans"/>
              </a:defRPr>
            </a:pPr>
            <a:r>
              <a:t>09 / 10</a:t>
            </a:r>
          </a:p>
        </p:txBody>
      </p:sp>
      <p:sp>
        <p:nvSpPr>
          <p:cNvPr id="7" name="TextBox 6"/>
          <p:cNvSpPr txBox="1"/>
          <p:nvPr/>
        </p:nvSpPr>
        <p:spPr>
          <a:xfrm>
            <a:off x="640080" y="2267712"/>
            <a:ext cx="2103120" cy="841248"/>
          </a:xfrm>
          <a:prstGeom prst="rect">
            <a:avLst/>
          </a:prstGeom>
          <a:noFill/>
        </p:spPr>
        <p:txBody>
          <a:bodyPr wrap="square" lIns="0" rIns="0" tIns="0" bIns="0">
            <a:spAutoFit/>
          </a:bodyPr>
          <a:lstStyle/>
          <a:p>
            <a:pPr>
              <a:lnSpc>
                <a:spcPct val="112000"/>
              </a:lnSpc>
              <a:spcBef>
                <a:spcPts val="0"/>
              </a:spcBef>
              <a:spcAft>
                <a:spcPts val="500"/>
              </a:spcAft>
              <a:defRPr sz="5100" b="1">
                <a:solidFill>
                  <a:srgbClr val="183C31"/>
                </a:solidFill>
                <a:latin typeface="Noto Sans"/>
              </a:defRPr>
            </a:pPr>
            <a:r>
              <a:t>3</a:t>
            </a:r>
          </a:p>
        </p:txBody>
      </p:sp>
      <p:sp>
        <p:nvSpPr>
          <p:cNvPr id="8" name="TextBox 7"/>
          <p:cNvSpPr txBox="1"/>
          <p:nvPr/>
        </p:nvSpPr>
        <p:spPr>
          <a:xfrm>
            <a:off x="640080" y="3300984"/>
            <a:ext cx="2194560" cy="548640"/>
          </a:xfrm>
          <a:prstGeom prst="rect">
            <a:avLst/>
          </a:prstGeom>
          <a:noFill/>
        </p:spPr>
        <p:txBody>
          <a:bodyPr wrap="square" lIns="0" rIns="0" tIns="0" bIns="0">
            <a:spAutoFit/>
          </a:bodyPr>
          <a:lstStyle/>
          <a:p>
            <a:pPr>
              <a:lnSpc>
                <a:spcPct val="112000"/>
              </a:lnSpc>
              <a:spcBef>
                <a:spcPts val="0"/>
              </a:spcBef>
              <a:spcAft>
                <a:spcPts val="500"/>
              </a:spcAft>
              <a:defRPr sz="1700" b="1">
                <a:solidFill>
                  <a:srgbClr val="203C32"/>
                </a:solidFill>
                <a:latin typeface="Noto Sans"/>
              </a:defRPr>
            </a:pPr>
            <a:r>
              <a:t>вазифаи ҳаррӯза</a:t>
            </a:r>
          </a:p>
        </p:txBody>
      </p:sp>
      <p:sp>
        <p:nvSpPr>
          <p:cNvPr id="9" name="TextBox 8"/>
          <p:cNvSpPr txBox="1"/>
          <p:nvPr/>
        </p:nvSpPr>
        <p:spPr>
          <a:xfrm>
            <a:off x="640080" y="3977639"/>
            <a:ext cx="2148840" cy="685800"/>
          </a:xfrm>
          <a:prstGeom prst="rect">
            <a:avLst/>
          </a:prstGeom>
          <a:noFill/>
        </p:spPr>
        <p:txBody>
          <a:bodyPr wrap="square" lIns="0" rIns="0" tIns="0" bIns="0">
            <a:spAutoFit/>
          </a:bodyPr>
          <a:lstStyle/>
          <a:p>
            <a:pPr>
              <a:lnSpc>
                <a:spcPct val="112000"/>
              </a:lnSpc>
              <a:spcBef>
                <a:spcPts val="0"/>
              </a:spcBef>
              <a:spcAft>
                <a:spcPts val="500"/>
              </a:spcAft>
              <a:defRPr sz="1200" b="0">
                <a:solidFill>
                  <a:srgbClr val="64776B"/>
                </a:solidFill>
                <a:latin typeface="Noto Sans"/>
              </a:defRPr>
            </a:pPr>
            <a:r>
              <a:t>Боғ · кор · оила</a:t>
            </a:r>
          </a:p>
        </p:txBody>
      </p:sp>
      <p:sp>
        <p:nvSpPr>
          <p:cNvPr id="10" name="TextBox 9"/>
          <p:cNvSpPr txBox="1"/>
          <p:nvPr/>
        </p:nvSpPr>
        <p:spPr>
          <a:xfrm>
            <a:off x="3026663" y="2267712"/>
            <a:ext cx="2103120" cy="841248"/>
          </a:xfrm>
          <a:prstGeom prst="rect">
            <a:avLst/>
          </a:prstGeom>
          <a:noFill/>
        </p:spPr>
        <p:txBody>
          <a:bodyPr wrap="square" lIns="0" rIns="0" tIns="0" bIns="0">
            <a:spAutoFit/>
          </a:bodyPr>
          <a:lstStyle/>
          <a:p>
            <a:pPr>
              <a:lnSpc>
                <a:spcPct val="112000"/>
              </a:lnSpc>
              <a:spcBef>
                <a:spcPts val="0"/>
              </a:spcBef>
              <a:spcAft>
                <a:spcPts val="500"/>
              </a:spcAft>
              <a:defRPr sz="5100" b="1">
                <a:solidFill>
                  <a:srgbClr val="183C31"/>
                </a:solidFill>
                <a:latin typeface="Noto Sans"/>
              </a:defRPr>
            </a:pPr>
            <a:r>
              <a:t>2</a:t>
            </a:r>
          </a:p>
        </p:txBody>
      </p:sp>
      <p:sp>
        <p:nvSpPr>
          <p:cNvPr id="11" name="TextBox 10"/>
          <p:cNvSpPr txBox="1"/>
          <p:nvPr/>
        </p:nvSpPr>
        <p:spPr>
          <a:xfrm>
            <a:off x="3026663" y="3300984"/>
            <a:ext cx="2194560" cy="548640"/>
          </a:xfrm>
          <a:prstGeom prst="rect">
            <a:avLst/>
          </a:prstGeom>
          <a:noFill/>
        </p:spPr>
        <p:txBody>
          <a:bodyPr wrap="square" lIns="0" rIns="0" tIns="0" bIns="0">
            <a:spAutoFit/>
          </a:bodyPr>
          <a:lstStyle/>
          <a:p>
            <a:pPr>
              <a:lnSpc>
                <a:spcPct val="112000"/>
              </a:lnSpc>
              <a:spcBef>
                <a:spcPts val="0"/>
              </a:spcBef>
              <a:spcAft>
                <a:spcPts val="500"/>
              </a:spcAft>
              <a:defRPr sz="1700" b="1">
                <a:solidFill>
                  <a:srgbClr val="203C32"/>
                </a:solidFill>
                <a:latin typeface="Noto Sans"/>
              </a:defRPr>
            </a:pPr>
            <a:r>
              <a:t>забони интерфейс</a:t>
            </a:r>
          </a:p>
        </p:txBody>
      </p:sp>
      <p:sp>
        <p:nvSpPr>
          <p:cNvPr id="12" name="TextBox 11"/>
          <p:cNvSpPr txBox="1"/>
          <p:nvPr/>
        </p:nvSpPr>
        <p:spPr>
          <a:xfrm>
            <a:off x="3026663" y="3977639"/>
            <a:ext cx="2148840" cy="685800"/>
          </a:xfrm>
          <a:prstGeom prst="rect">
            <a:avLst/>
          </a:prstGeom>
          <a:noFill/>
        </p:spPr>
        <p:txBody>
          <a:bodyPr wrap="square" lIns="0" rIns="0" tIns="0" bIns="0">
            <a:spAutoFit/>
          </a:bodyPr>
          <a:lstStyle/>
          <a:p>
            <a:pPr>
              <a:lnSpc>
                <a:spcPct val="112000"/>
              </a:lnSpc>
              <a:spcBef>
                <a:spcPts val="0"/>
              </a:spcBef>
              <a:spcAft>
                <a:spcPts val="500"/>
              </a:spcAft>
              <a:defRPr sz="1200" b="0">
                <a:solidFill>
                  <a:srgbClr val="64776B"/>
                </a:solidFill>
                <a:latin typeface="Noto Sans"/>
              </a:defRPr>
            </a:pPr>
            <a:r>
              <a:t>Тоҷикӣ · русӣ</a:t>
            </a:r>
          </a:p>
        </p:txBody>
      </p:sp>
      <p:sp>
        <p:nvSpPr>
          <p:cNvPr id="13" name="TextBox 12"/>
          <p:cNvSpPr txBox="1"/>
          <p:nvPr/>
        </p:nvSpPr>
        <p:spPr>
          <a:xfrm>
            <a:off x="5413248" y="2267712"/>
            <a:ext cx="2103120" cy="841248"/>
          </a:xfrm>
          <a:prstGeom prst="rect">
            <a:avLst/>
          </a:prstGeom>
          <a:noFill/>
        </p:spPr>
        <p:txBody>
          <a:bodyPr wrap="square" lIns="0" rIns="0" tIns="0" bIns="0">
            <a:spAutoFit/>
          </a:bodyPr>
          <a:lstStyle/>
          <a:p>
            <a:pPr>
              <a:lnSpc>
                <a:spcPct val="112000"/>
              </a:lnSpc>
              <a:spcBef>
                <a:spcPts val="0"/>
              </a:spcBef>
              <a:spcAft>
                <a:spcPts val="500"/>
              </a:spcAft>
              <a:defRPr sz="5100" b="1">
                <a:solidFill>
                  <a:srgbClr val="183C31"/>
                </a:solidFill>
                <a:latin typeface="Noto Sans"/>
              </a:defRPr>
            </a:pPr>
            <a:r>
              <a:t>12</a:t>
            </a:r>
          </a:p>
        </p:txBody>
      </p:sp>
      <p:sp>
        <p:nvSpPr>
          <p:cNvPr id="14" name="TextBox 13"/>
          <p:cNvSpPr txBox="1"/>
          <p:nvPr/>
        </p:nvSpPr>
        <p:spPr>
          <a:xfrm>
            <a:off x="5413248" y="3300984"/>
            <a:ext cx="2194560" cy="548640"/>
          </a:xfrm>
          <a:prstGeom prst="rect">
            <a:avLst/>
          </a:prstGeom>
          <a:noFill/>
        </p:spPr>
        <p:txBody>
          <a:bodyPr wrap="square" lIns="0" rIns="0" tIns="0" bIns="0">
            <a:spAutoFit/>
          </a:bodyPr>
          <a:lstStyle/>
          <a:p>
            <a:pPr>
              <a:lnSpc>
                <a:spcPct val="112000"/>
              </a:lnSpc>
              <a:spcBef>
                <a:spcPts val="0"/>
              </a:spcBef>
              <a:spcAft>
                <a:spcPts val="500"/>
              </a:spcAft>
              <a:defRPr sz="1700" b="1">
                <a:solidFill>
                  <a:srgbClr val="203C32"/>
                </a:solidFill>
                <a:latin typeface="Noto Sans"/>
              </a:defRPr>
            </a:pPr>
            <a:r>
              <a:t>шаҳр дар каталог</a:t>
            </a:r>
          </a:p>
        </p:txBody>
      </p:sp>
      <p:sp>
        <p:nvSpPr>
          <p:cNvPr id="15" name="TextBox 14"/>
          <p:cNvSpPr txBox="1"/>
          <p:nvPr/>
        </p:nvSpPr>
        <p:spPr>
          <a:xfrm>
            <a:off x="5413248" y="3977639"/>
            <a:ext cx="2148840" cy="685800"/>
          </a:xfrm>
          <a:prstGeom prst="rect">
            <a:avLst/>
          </a:prstGeom>
          <a:noFill/>
        </p:spPr>
        <p:txBody>
          <a:bodyPr wrap="square" lIns="0" rIns="0" tIns="0" bIns="0">
            <a:spAutoFit/>
          </a:bodyPr>
          <a:lstStyle/>
          <a:p>
            <a:pPr>
              <a:lnSpc>
                <a:spcPct val="112000"/>
              </a:lnSpc>
              <a:spcBef>
                <a:spcPts val="0"/>
              </a:spcBef>
              <a:spcAft>
                <a:spcPts val="500"/>
              </a:spcAft>
              <a:defRPr sz="1200" b="0">
                <a:solidFill>
                  <a:srgbClr val="64776B"/>
                </a:solidFill>
                <a:latin typeface="Noto Sans"/>
              </a:defRPr>
            </a:pPr>
            <a:r>
              <a:t>Инчунин интихоби ҷойгиршавӣ</a:t>
            </a:r>
          </a:p>
        </p:txBody>
      </p:sp>
      <p:sp>
        <p:nvSpPr>
          <p:cNvPr id="16" name="Rounded Rectangle 15"/>
          <p:cNvSpPr/>
          <p:nvPr/>
        </p:nvSpPr>
        <p:spPr>
          <a:xfrm>
            <a:off x="640080" y="5010912"/>
            <a:ext cx="6720840" cy="859536"/>
          </a:xfrm>
          <a:prstGeom prst="roundRect">
            <a:avLst>
              <a:gd name="adj" fmla="val 12000"/>
            </a:avLst>
          </a:prstGeom>
          <a:solidFill>
            <a:srgbClr val="E9EE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202936"/>
            <a:ext cx="6309360" cy="502920"/>
          </a:xfrm>
          <a:prstGeom prst="rect">
            <a:avLst/>
          </a:prstGeom>
          <a:noFill/>
        </p:spPr>
        <p:txBody>
          <a:bodyPr wrap="square" lIns="0" rIns="0" tIns="0" bIns="0">
            <a:spAutoFit/>
          </a:bodyPr>
          <a:lstStyle/>
          <a:p>
            <a:pPr>
              <a:lnSpc>
                <a:spcPct val="112000"/>
              </a:lnSpc>
              <a:spcBef>
                <a:spcPts val="0"/>
              </a:spcBef>
              <a:spcAft>
                <a:spcPts val="500"/>
              </a:spcAft>
              <a:defRPr sz="1400" b="1">
                <a:solidFill>
                  <a:srgbClr val="203C32"/>
                </a:solidFill>
                <a:latin typeface="Noto Sans"/>
              </a:defRPr>
            </a:pPr>
            <a:r>
              <a:t>32 санҷиши ҳисоб / API</a:t>
            </a:r>
          </a:p>
          <a:p>
            <a:pPr>
              <a:lnSpc>
                <a:spcPct val="112000"/>
              </a:lnSpc>
              <a:spcBef>
                <a:spcPts val="0"/>
              </a:spcBef>
              <a:spcAft>
                <a:spcPts val="500"/>
              </a:spcAft>
              <a:defRPr sz="1400" b="1">
                <a:solidFill>
                  <a:srgbClr val="203C32"/>
                </a:solidFill>
                <a:latin typeface="Noto Sans"/>
              </a:defRPr>
            </a:pPr>
            <a:r>
              <a:t>16 сенарияи браузерӣ — гузаштанд</a:t>
            </a:r>
          </a:p>
        </p:txBody>
      </p:sp>
      <p:sp>
        <p:nvSpPr>
          <p:cNvPr id="18" name="Rounded Rectangle 17"/>
          <p:cNvSpPr/>
          <p:nvPr/>
        </p:nvSpPr>
        <p:spPr>
          <a:xfrm>
            <a:off x="8028431" y="2075688"/>
            <a:ext cx="3547872" cy="398678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94192" y="2276856"/>
            <a:ext cx="2807208" cy="2807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734459"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819526"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04593"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89660"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74727"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59794"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244861"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414994"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670195"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840329"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0095530"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265664"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350730"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435797"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0520864"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605931"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690998"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776065" y="261712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734459" y="270219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244861" y="270219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414994" y="270219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585128" y="270219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925396" y="270219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095530" y="270219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265664" y="270219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776065" y="270219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734459"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04593"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989660"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074727"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244861"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500061"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585128"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670195"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840329"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925396"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010463"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095530"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265664"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10435797"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10520864"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10605931"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776065" y="278725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734459"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8904593"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989660"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074727"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244861"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414994"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9585128"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755262"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840329"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925396"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10010463"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095530"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265664"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435797"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10520864"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10605931"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776065" y="287232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734459"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904593"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8989660"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074727"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244861"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585128"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0010463"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0095530"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0265664"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435797"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520864"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0605931"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10776065" y="295739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8734459" y="30424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244861" y="30424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9500061" y="30424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670195" y="30424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840329" y="30424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925396" y="30424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0095530" y="30424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0265664" y="30424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776065" y="30424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8734459"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819526"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8904593"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8989660"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9074727"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9159794"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244861"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414994"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585128"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9755262"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9925396"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0095530"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0265664"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0350730"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10435797"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10520864"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0605931"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0690998"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0776065" y="31275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9414994" y="32125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9500061" y="32125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670195" y="32125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9755262" y="32125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9925396" y="32125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010463" y="32125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095530" y="32125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8734459"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8904593"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8989660"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9159794"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9244861"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9329928"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9670195"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9925396"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0010463"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10095530"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10265664"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10520864"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0690998"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10776065" y="329765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8734459" y="33827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8819526" y="33827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8904593" y="33827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9159794" y="33827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9414994" y="33827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9585128" y="33827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9670195" y="33827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10350730" y="33827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10690998" y="338272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8734459" y="34677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8819526" y="34677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9159794" y="34677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244861" y="34677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9329928" y="34677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9414994" y="34677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9500061" y="34677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9585128" y="34677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10180597" y="34677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10350730" y="346779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8819526"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8989660"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9074727"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9414994"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9500061"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9585128"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9670195"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9755262"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9840329"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9925396"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10095530"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10265664"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10435797"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10520864"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10605931" y="355285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8734459"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9074727"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9159794"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9244861"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9329928"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9414994"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9585128"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10180597"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10265664"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435797"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605931"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10690998"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10776065" y="3637926"/>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8904593"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9159794"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9329928"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9500061"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9585128"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9670195"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9840329"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9925396"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10010463"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10095530"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10180597"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10265664"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0350730"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10435797"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10776065" y="3722993"/>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8819526"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9159794"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9244861"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9414994"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9500061"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9585128"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9755262"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9925396"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10265664"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10435797"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10605931"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10690998" y="3808060"/>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8734459"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8904593"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8989660"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9329928"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9500061"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9755262"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9840329"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10180597"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10265664"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10350730"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10435797"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10776065" y="3893127"/>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8989660"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9074727"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9159794"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9244861"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9414994"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9500061"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670195"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10095530"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10180597"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10265664"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0350730"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0435797"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0520864"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0605931"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0690998"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0776065" y="39781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9414994" y="40632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9585128" y="40632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9755262" y="40632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9840329" y="40632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10010463" y="40632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10095530" y="40632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10435797" y="40632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10605931" y="40632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10776065" y="40632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8734459"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8819526"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8904593"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8989660"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9074727"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9159794"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9244861"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9414994"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9500061"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9670195"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755262"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10095530"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265664"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10435797"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10605931"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10690998"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10776065" y="41483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8734459" y="42333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9244861" y="42333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9414994" y="42333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9500061" y="42333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9585128" y="42333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9755262" y="42333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10010463" y="42333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10095530" y="42333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10435797" y="42333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10690998" y="4233394"/>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8734459"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8904593"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8989660"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9074727"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9244861"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9500061"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9670195"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9755262"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9840329"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10095530"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10180597"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10265664"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0350730"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10435797"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10520864"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0690998" y="4318461"/>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8734459"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8904593"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8989660"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9074727"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9244861"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9414994"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9585128"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9755262"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9840329"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9925396"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10180597"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0265664"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0435797"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0520864"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0605931"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10690998"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10776065" y="4403528"/>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8734459"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8904593"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8989660"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9074727"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angle 316"/>
          <p:cNvSpPr/>
          <p:nvPr/>
        </p:nvSpPr>
        <p:spPr>
          <a:xfrm>
            <a:off x="9244861"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ectangle 317"/>
          <p:cNvSpPr/>
          <p:nvPr/>
        </p:nvSpPr>
        <p:spPr>
          <a:xfrm>
            <a:off x="9414994"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9585128"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9670195"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9755262"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9840329"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10010463"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Rectangle 323"/>
          <p:cNvSpPr/>
          <p:nvPr/>
        </p:nvSpPr>
        <p:spPr>
          <a:xfrm>
            <a:off x="10180597"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Rectangle 324"/>
          <p:cNvSpPr/>
          <p:nvPr/>
        </p:nvSpPr>
        <p:spPr>
          <a:xfrm>
            <a:off x="10265664"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Rectangle 325"/>
          <p:cNvSpPr/>
          <p:nvPr/>
        </p:nvSpPr>
        <p:spPr>
          <a:xfrm>
            <a:off x="10435797"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Rectangle 326"/>
          <p:cNvSpPr/>
          <p:nvPr/>
        </p:nvSpPr>
        <p:spPr>
          <a:xfrm>
            <a:off x="10605931"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Rectangle 327"/>
          <p:cNvSpPr/>
          <p:nvPr/>
        </p:nvSpPr>
        <p:spPr>
          <a:xfrm>
            <a:off x="10690998" y="4488595"/>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8734459" y="457366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244861" y="457366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500061" y="457366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10010463" y="457366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265664" y="457366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435797" y="457366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0605931" y="4573662"/>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8734459"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8819526"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8904593"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8989660"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9074727"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9159794"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9244861"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9414994"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9585128"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9755262"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9925396"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0265664"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0350730"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0435797"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10520864"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10605931"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10690998"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10776065" y="4658729"/>
            <a:ext cx="85981" cy="85981"/>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TextBox 353"/>
          <p:cNvSpPr txBox="1"/>
          <p:nvPr/>
        </p:nvSpPr>
        <p:spPr>
          <a:xfrm>
            <a:off x="8302752" y="5212080"/>
            <a:ext cx="3017520" cy="457200"/>
          </a:xfrm>
          <a:prstGeom prst="rect">
            <a:avLst/>
          </a:prstGeom>
          <a:noFill/>
        </p:spPr>
        <p:txBody>
          <a:bodyPr wrap="square" lIns="0" rIns="0" tIns="0" bIns="0">
            <a:spAutoFit/>
          </a:bodyPr>
          <a:lstStyle/>
          <a:p>
            <a:pPr algn="ctr">
              <a:lnSpc>
                <a:spcPct val="112000"/>
              </a:lnSpc>
              <a:spcBef>
                <a:spcPts val="0"/>
              </a:spcBef>
              <a:spcAft>
                <a:spcPts val="500"/>
              </a:spcAft>
              <a:defRPr sz="2200" b="1">
                <a:solidFill>
                  <a:srgbClr val="237F86"/>
                </a:solidFill>
                <a:latin typeface="Noto Sans"/>
              </a:defRPr>
            </a:pPr>
            <a:r>
              <a:rPr>
                <a:hlinkClick r:id="rId3"/>
              </a:rPr>
              <a:t>obihush.site</a:t>
            </a:r>
          </a:p>
        </p:txBody>
      </p:sp>
      <p:sp>
        <p:nvSpPr>
          <p:cNvPr id="355" name="TextBox 354"/>
          <p:cNvSpPr txBox="1"/>
          <p:nvPr/>
        </p:nvSpPr>
        <p:spPr>
          <a:xfrm>
            <a:off x="8348472" y="5696712"/>
            <a:ext cx="2926080" cy="201168"/>
          </a:xfrm>
          <a:prstGeom prst="rect">
            <a:avLst/>
          </a:prstGeom>
          <a:noFill/>
        </p:spPr>
        <p:txBody>
          <a:bodyPr wrap="square" lIns="0" rIns="0" tIns="0" bIns="0">
            <a:spAutoFit/>
          </a:bodyPr>
          <a:lstStyle/>
          <a:p>
            <a:pPr algn="ctr">
              <a:lnSpc>
                <a:spcPct val="112000"/>
              </a:lnSpc>
              <a:spcBef>
                <a:spcPts val="0"/>
              </a:spcBef>
              <a:spcAft>
                <a:spcPts val="500"/>
              </a:spcAft>
              <a:defRPr sz="1000" b="0">
                <a:solidFill>
                  <a:srgbClr val="64776B"/>
                </a:solidFill>
                <a:latin typeface="Noto Sans"/>
              </a:defRPr>
            </a:pPr>
            <a:r>
              <a:t>Кушодани сомонаи лоиҳа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83C31"/>
        </a:solidFill>
        <a:effectLst/>
      </p:bgPr>
    </p:bg>
    <p:spTree>
      <p:nvGrpSpPr>
        <p:cNvPr id="1" name=""/>
        <p:cNvGrpSpPr/>
        <p:nvPr/>
      </p:nvGrpSpPr>
      <p:grpSpPr/>
      <p:sp>
        <p:nvSpPr>
          <p:cNvPr id="2" name="TextBox 1"/>
          <p:cNvSpPr txBox="1"/>
          <p:nvPr/>
        </p:nvSpPr>
        <p:spPr>
          <a:xfrm>
            <a:off x="594360" y="384048"/>
            <a:ext cx="10058400" cy="228600"/>
          </a:xfrm>
          <a:prstGeom prst="rect">
            <a:avLst/>
          </a:prstGeom>
          <a:noFill/>
        </p:spPr>
        <p:txBody>
          <a:bodyPr wrap="square" lIns="0" rIns="0" tIns="0" bIns="0">
            <a:spAutoFit/>
          </a:bodyPr>
          <a:lstStyle/>
          <a:p>
            <a:pPr>
              <a:lnSpc>
                <a:spcPct val="112000"/>
              </a:lnSpc>
              <a:spcBef>
                <a:spcPts val="0"/>
              </a:spcBef>
              <a:spcAft>
                <a:spcPts val="500"/>
              </a:spcAft>
              <a:defRPr sz="1000" b="1">
                <a:solidFill>
                  <a:srgbClr val="D7EAA5"/>
                </a:solidFill>
                <a:latin typeface="Noto Sans"/>
              </a:defRPr>
            </a:pPr>
            <a:r>
              <a:t>09 · РУШД ВА ТАЪСИР</a:t>
            </a:r>
          </a:p>
        </p:txBody>
      </p:sp>
      <p:sp>
        <p:nvSpPr>
          <p:cNvPr id="3" name="TextBox 2"/>
          <p:cNvSpPr txBox="1"/>
          <p:nvPr/>
        </p:nvSpPr>
        <p:spPr>
          <a:xfrm>
            <a:off x="594360" y="896112"/>
            <a:ext cx="10972800" cy="941832"/>
          </a:xfrm>
          <a:prstGeom prst="rect">
            <a:avLst/>
          </a:prstGeom>
          <a:noFill/>
        </p:spPr>
        <p:txBody>
          <a:bodyPr wrap="square" lIns="0" rIns="0" tIns="0" bIns="0">
            <a:spAutoFit/>
          </a:bodyPr>
          <a:lstStyle/>
          <a:p>
            <a:pPr>
              <a:lnSpc>
                <a:spcPct val="112000"/>
              </a:lnSpc>
              <a:spcBef>
                <a:spcPts val="0"/>
              </a:spcBef>
              <a:spcAft>
                <a:spcPts val="500"/>
              </a:spcAft>
              <a:defRPr sz="3100" b="0">
                <a:solidFill>
                  <a:srgbClr val="FFFFFF"/>
                </a:solidFill>
                <a:latin typeface="Noto Serif"/>
              </a:defRPr>
            </a:pPr>
          </a:p>
        </p:txBody>
      </p:sp>
      <p:cxnSp>
        <p:nvCxnSpPr>
          <p:cNvPr id="4" name="Connector 3"/>
          <p:cNvCxnSpPr/>
          <p:nvPr/>
        </p:nvCxnSpPr>
        <p:spPr>
          <a:xfrm>
            <a:off x="594360" y="6437376"/>
            <a:ext cx="11000232" cy="0"/>
          </a:xfrm>
          <a:prstGeom prst="line">
            <a:avLst/>
          </a:prstGeom>
          <a:ln w="8255">
            <a:solidFill>
              <a:srgbClr val="64776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315200" cy="182880"/>
          </a:xfrm>
          <a:prstGeom prst="rect">
            <a:avLst/>
          </a:prstGeom>
          <a:noFill/>
        </p:spPr>
        <p:txBody>
          <a:bodyPr wrap="square" lIns="0" rIns="0" tIns="0" bIns="0">
            <a:spAutoFit/>
          </a:bodyPr>
          <a:lstStyle/>
          <a:p>
            <a:pPr>
              <a:lnSpc>
                <a:spcPct val="112000"/>
              </a:lnSpc>
              <a:spcBef>
                <a:spcPts val="0"/>
              </a:spcBef>
              <a:spcAft>
                <a:spcPts val="500"/>
              </a:spcAft>
              <a:defRPr sz="900" b="0">
                <a:solidFill>
                  <a:srgbClr val="D7EAA5"/>
                </a:solidFill>
                <a:latin typeface="Noto Sans"/>
              </a:defRPr>
            </a:pPr>
            <a:r>
              <a:t>ОБҲУШ  /  Идеяи ман — калиди фардо  /  2026</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2000"/>
              </a:lnSpc>
              <a:spcBef>
                <a:spcPts val="0"/>
              </a:spcBef>
              <a:spcAft>
                <a:spcPts val="500"/>
              </a:spcAft>
              <a:defRPr sz="1000" b="0">
                <a:solidFill>
                  <a:srgbClr val="D7EAA5"/>
                </a:solidFill>
                <a:latin typeface="Noto Sans"/>
              </a:defRPr>
            </a:pPr>
            <a:r>
              <a:t>10 / 10</a:t>
            </a:r>
          </a:p>
        </p:txBody>
      </p:sp>
      <p:cxnSp>
        <p:nvCxnSpPr>
          <p:cNvPr id="7" name="Connector 6"/>
          <p:cNvCxnSpPr/>
          <p:nvPr/>
        </p:nvCxnSpPr>
        <p:spPr>
          <a:xfrm>
            <a:off x="667512" y="1069848"/>
            <a:ext cx="30495" cy="1544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98007" y="1085290"/>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28502" y="1099680"/>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58997" y="1112037"/>
            <a:ext cx="30495"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9492" y="1121519"/>
            <a:ext cx="30496"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19988" y="1127479"/>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50483" y="1127479"/>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880978" y="1121519"/>
            <a:ext cx="30495"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911473" y="1112037"/>
            <a:ext cx="30496"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41969" y="1099680"/>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72464" y="1085290"/>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02959" y="1069848"/>
            <a:ext cx="30495" cy="1544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33454" y="1054405"/>
            <a:ext cx="30496" cy="1544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1063950" y="1040015"/>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94445" y="1027658"/>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124940" y="1018176"/>
            <a:ext cx="30495"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155435" y="1012216"/>
            <a:ext cx="30496"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185931" y="1010183"/>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216426" y="1010183"/>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246921" y="1012216"/>
            <a:ext cx="30495"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277416" y="1018176"/>
            <a:ext cx="30496"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07912" y="1027658"/>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38407" y="1040015"/>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368902" y="1054405"/>
            <a:ext cx="30495" cy="1544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67512" y="1202436"/>
            <a:ext cx="30495" cy="1544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98007" y="1217878"/>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28502" y="1232268"/>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58997" y="1244625"/>
            <a:ext cx="30495"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89492" y="1254107"/>
            <a:ext cx="30496"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19988" y="1260067"/>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850483" y="1260067"/>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880978" y="1254107"/>
            <a:ext cx="30495"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911473" y="1244625"/>
            <a:ext cx="30496"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941969" y="1232268"/>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72464" y="1217878"/>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002959" y="1202436"/>
            <a:ext cx="30495" cy="1544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33454" y="1186993"/>
            <a:ext cx="30496" cy="1544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63950" y="1172603"/>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94445" y="1160246"/>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124940" y="1150764"/>
            <a:ext cx="30495"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155435" y="1144804"/>
            <a:ext cx="30496"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185931" y="1142771"/>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216426" y="1142771"/>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246921" y="1144804"/>
            <a:ext cx="30495"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277416" y="1150764"/>
            <a:ext cx="30496"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307912" y="1160246"/>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338407" y="1172603"/>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368902" y="1186993"/>
            <a:ext cx="30495" cy="1544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67512" y="1335024"/>
            <a:ext cx="30495" cy="1544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98007" y="1350466"/>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28502" y="1364856"/>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8997" y="1377213"/>
            <a:ext cx="30495"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89492" y="1386695"/>
            <a:ext cx="30496"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819988" y="1392655"/>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50483" y="1392655"/>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80978" y="1386695"/>
            <a:ext cx="30495"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911473" y="1377213"/>
            <a:ext cx="30496"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41969" y="1364856"/>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972464" y="1350466"/>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1002959" y="1335024"/>
            <a:ext cx="30495" cy="1544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1033454" y="1319581"/>
            <a:ext cx="30496" cy="1544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1063950" y="1305191"/>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1094445" y="1292834"/>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124940" y="1283352"/>
            <a:ext cx="30495"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1155435" y="1277392"/>
            <a:ext cx="30496"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1185931" y="1275359"/>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216426" y="1275359"/>
            <a:ext cx="30495" cy="203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246921" y="1277392"/>
            <a:ext cx="30495" cy="596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277416" y="1283352"/>
            <a:ext cx="30496" cy="9482"/>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07912" y="1292834"/>
            <a:ext cx="30495" cy="12357"/>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38407" y="1305191"/>
            <a:ext cx="30495" cy="14390"/>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368902" y="1319581"/>
            <a:ext cx="30495" cy="15443"/>
          </a:xfrm>
          <a:prstGeom prst="line">
            <a:avLst/>
          </a:prstGeom>
          <a:ln w="19050">
            <a:solidFill>
              <a:srgbClr val="D7EAA5"/>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1664208" y="941832"/>
            <a:ext cx="4572000" cy="548640"/>
          </a:xfrm>
          <a:prstGeom prst="rect">
            <a:avLst/>
          </a:prstGeom>
          <a:noFill/>
        </p:spPr>
        <p:txBody>
          <a:bodyPr wrap="square" lIns="0" rIns="0" tIns="0" bIns="0">
            <a:spAutoFit/>
          </a:bodyPr>
          <a:lstStyle/>
          <a:p>
            <a:pPr>
              <a:lnSpc>
                <a:spcPct val="112000"/>
              </a:lnSpc>
              <a:spcBef>
                <a:spcPts val="0"/>
              </a:spcBef>
              <a:spcAft>
                <a:spcPts val="500"/>
              </a:spcAft>
              <a:defRPr sz="3000" b="1">
                <a:solidFill>
                  <a:srgbClr val="FFFFFF"/>
                </a:solidFill>
                <a:latin typeface="Noto Sans"/>
              </a:defRPr>
            </a:pPr>
            <a:r>
              <a:t>ОБҲУШ</a:t>
            </a:r>
          </a:p>
        </p:txBody>
      </p:sp>
      <p:sp>
        <p:nvSpPr>
          <p:cNvPr id="80" name="TextBox 79"/>
          <p:cNvSpPr txBox="1"/>
          <p:nvPr/>
        </p:nvSpPr>
        <p:spPr>
          <a:xfrm>
            <a:off x="612648" y="1984248"/>
            <a:ext cx="7863840" cy="1536192"/>
          </a:xfrm>
          <a:prstGeom prst="rect">
            <a:avLst/>
          </a:prstGeom>
          <a:noFill/>
        </p:spPr>
        <p:txBody>
          <a:bodyPr wrap="square" lIns="0" rIns="0" tIns="0" bIns="0">
            <a:spAutoFit/>
          </a:bodyPr>
          <a:lstStyle/>
          <a:p>
            <a:pPr>
              <a:lnSpc>
                <a:spcPct val="112000"/>
              </a:lnSpc>
              <a:spcBef>
                <a:spcPts val="0"/>
              </a:spcBef>
              <a:spcAft>
                <a:spcPts val="500"/>
              </a:spcAft>
              <a:defRPr sz="3700" b="0">
                <a:solidFill>
                  <a:srgbClr val="D7EAA5"/>
                </a:solidFill>
                <a:latin typeface="Noto Serif"/>
              </a:defRPr>
            </a:pPr>
            <a:r>
              <a:t>Ҳар қатраи об —</a:t>
            </a:r>
          </a:p>
          <a:p>
            <a:pPr>
              <a:lnSpc>
                <a:spcPct val="112000"/>
              </a:lnSpc>
              <a:spcBef>
                <a:spcPts val="0"/>
              </a:spcBef>
              <a:spcAft>
                <a:spcPts val="500"/>
              </a:spcAft>
              <a:defRPr sz="3700" b="0">
                <a:solidFill>
                  <a:srgbClr val="D7EAA5"/>
                </a:solidFill>
                <a:latin typeface="Noto Serif"/>
              </a:defRPr>
            </a:pPr>
            <a:r>
              <a:t>як қарори беҳтар.</a:t>
            </a:r>
          </a:p>
        </p:txBody>
      </p:sp>
      <p:sp>
        <p:nvSpPr>
          <p:cNvPr id="81" name="TextBox 80"/>
          <p:cNvSpPr txBox="1"/>
          <p:nvPr/>
        </p:nvSpPr>
        <p:spPr>
          <a:xfrm>
            <a:off x="658368" y="3886200"/>
            <a:ext cx="7178040" cy="731520"/>
          </a:xfrm>
          <a:prstGeom prst="rect">
            <a:avLst/>
          </a:prstGeom>
          <a:noFill/>
        </p:spPr>
        <p:txBody>
          <a:bodyPr wrap="square" lIns="0" rIns="0" tIns="0" bIns="0">
            <a:spAutoFit/>
          </a:bodyPr>
          <a:lstStyle/>
          <a:p>
            <a:pPr>
              <a:lnSpc>
                <a:spcPct val="112000"/>
              </a:lnSpc>
              <a:spcBef>
                <a:spcPts val="0"/>
              </a:spcBef>
              <a:spcAft>
                <a:spcPts val="500"/>
              </a:spcAft>
              <a:defRPr sz="1900" b="0">
                <a:solidFill>
                  <a:srgbClr val="FFFFFF"/>
                </a:solidFill>
                <a:latin typeface="Noto Sans"/>
              </a:defRPr>
            </a:pPr>
            <a:r>
              <a:t>Қадами навбатӣ: озмоиш бо оилаҳо ва боғбонон,</a:t>
            </a:r>
          </a:p>
          <a:p>
            <a:pPr>
              <a:lnSpc>
                <a:spcPct val="112000"/>
              </a:lnSpc>
              <a:spcBef>
                <a:spcPts val="0"/>
              </a:spcBef>
              <a:spcAft>
                <a:spcPts val="500"/>
              </a:spcAft>
              <a:defRPr sz="1900" b="0">
                <a:solidFill>
                  <a:srgbClr val="FFFFFF"/>
                </a:solidFill>
                <a:latin typeface="Noto Sans"/>
              </a:defRPr>
            </a:pPr>
            <a:r>
              <a:t>ченкунии сарф ва мутобиқсозии ҳисобҳо.</a:t>
            </a:r>
          </a:p>
        </p:txBody>
      </p:sp>
      <p:sp>
        <p:nvSpPr>
          <p:cNvPr id="82" name="TextBox 81"/>
          <p:cNvSpPr txBox="1"/>
          <p:nvPr/>
        </p:nvSpPr>
        <p:spPr>
          <a:xfrm>
            <a:off x="685800" y="5330952"/>
            <a:ext cx="411480" cy="274320"/>
          </a:xfrm>
          <a:prstGeom prst="rect">
            <a:avLst/>
          </a:prstGeom>
          <a:noFill/>
        </p:spPr>
        <p:txBody>
          <a:bodyPr wrap="square" lIns="0" rIns="0" tIns="0" bIns="0">
            <a:spAutoFit/>
          </a:bodyPr>
          <a:lstStyle/>
          <a:p>
            <a:pPr>
              <a:lnSpc>
                <a:spcPct val="112000"/>
              </a:lnSpc>
              <a:spcBef>
                <a:spcPts val="0"/>
              </a:spcBef>
              <a:spcAft>
                <a:spcPts val="500"/>
              </a:spcAft>
              <a:defRPr sz="1200" b="1">
                <a:solidFill>
                  <a:srgbClr val="D7EAA5"/>
                </a:solidFill>
                <a:latin typeface="Noto Sans"/>
              </a:defRPr>
            </a:pPr>
            <a:r>
              <a:t>01</a:t>
            </a:r>
          </a:p>
        </p:txBody>
      </p:sp>
      <p:sp>
        <p:nvSpPr>
          <p:cNvPr id="83" name="TextBox 82"/>
          <p:cNvSpPr txBox="1"/>
          <p:nvPr/>
        </p:nvSpPr>
        <p:spPr>
          <a:xfrm>
            <a:off x="1197864" y="5312664"/>
            <a:ext cx="1938528" cy="594360"/>
          </a:xfrm>
          <a:prstGeom prst="rect">
            <a:avLst/>
          </a:prstGeom>
          <a:noFill/>
        </p:spPr>
        <p:txBody>
          <a:bodyPr wrap="square" lIns="0" rIns="0" tIns="0" bIns="0">
            <a:spAutoFit/>
          </a:bodyPr>
          <a:lstStyle/>
          <a:p>
            <a:pPr>
              <a:lnSpc>
                <a:spcPct val="112000"/>
              </a:lnSpc>
              <a:spcBef>
                <a:spcPts val="0"/>
              </a:spcBef>
              <a:spcAft>
                <a:spcPts val="500"/>
              </a:spcAft>
              <a:defRPr sz="1300" b="0">
                <a:solidFill>
                  <a:srgbClr val="FFFFFF"/>
                </a:solidFill>
                <a:latin typeface="Noto Sans"/>
              </a:defRPr>
            </a:pPr>
            <a:r>
              <a:t>Озмоиши маҳаллӣ</a:t>
            </a:r>
          </a:p>
        </p:txBody>
      </p:sp>
      <p:sp>
        <p:nvSpPr>
          <p:cNvPr id="84" name="TextBox 83"/>
          <p:cNvSpPr txBox="1"/>
          <p:nvPr/>
        </p:nvSpPr>
        <p:spPr>
          <a:xfrm>
            <a:off x="3200400" y="5330952"/>
            <a:ext cx="411480" cy="274320"/>
          </a:xfrm>
          <a:prstGeom prst="rect">
            <a:avLst/>
          </a:prstGeom>
          <a:noFill/>
        </p:spPr>
        <p:txBody>
          <a:bodyPr wrap="square" lIns="0" rIns="0" tIns="0" bIns="0">
            <a:spAutoFit/>
          </a:bodyPr>
          <a:lstStyle/>
          <a:p>
            <a:pPr>
              <a:lnSpc>
                <a:spcPct val="112000"/>
              </a:lnSpc>
              <a:spcBef>
                <a:spcPts val="0"/>
              </a:spcBef>
              <a:spcAft>
                <a:spcPts val="500"/>
              </a:spcAft>
              <a:defRPr sz="1200" b="1">
                <a:solidFill>
                  <a:srgbClr val="D7EAA5"/>
                </a:solidFill>
                <a:latin typeface="Noto Sans"/>
              </a:defRPr>
            </a:pPr>
            <a:r>
              <a:t>02</a:t>
            </a:r>
          </a:p>
        </p:txBody>
      </p:sp>
      <p:sp>
        <p:nvSpPr>
          <p:cNvPr id="85" name="TextBox 84"/>
          <p:cNvSpPr txBox="1"/>
          <p:nvPr/>
        </p:nvSpPr>
        <p:spPr>
          <a:xfrm>
            <a:off x="3712464" y="5312664"/>
            <a:ext cx="1938528" cy="594360"/>
          </a:xfrm>
          <a:prstGeom prst="rect">
            <a:avLst/>
          </a:prstGeom>
          <a:noFill/>
        </p:spPr>
        <p:txBody>
          <a:bodyPr wrap="square" lIns="0" rIns="0" tIns="0" bIns="0">
            <a:spAutoFit/>
          </a:bodyPr>
          <a:lstStyle/>
          <a:p>
            <a:pPr>
              <a:lnSpc>
                <a:spcPct val="112000"/>
              </a:lnSpc>
              <a:spcBef>
                <a:spcPts val="0"/>
              </a:spcBef>
              <a:spcAft>
                <a:spcPts val="500"/>
              </a:spcAft>
              <a:defRPr sz="1300" b="0">
                <a:solidFill>
                  <a:srgbClr val="FFFFFF"/>
                </a:solidFill>
                <a:latin typeface="Noto Sans"/>
              </a:defRPr>
            </a:pPr>
            <a:r>
              <a:t>Ченкунии натиҷа</a:t>
            </a:r>
          </a:p>
        </p:txBody>
      </p:sp>
      <p:sp>
        <p:nvSpPr>
          <p:cNvPr id="86" name="TextBox 85"/>
          <p:cNvSpPr txBox="1"/>
          <p:nvPr/>
        </p:nvSpPr>
        <p:spPr>
          <a:xfrm>
            <a:off x="5715000" y="5330952"/>
            <a:ext cx="411480" cy="274320"/>
          </a:xfrm>
          <a:prstGeom prst="rect">
            <a:avLst/>
          </a:prstGeom>
          <a:noFill/>
        </p:spPr>
        <p:txBody>
          <a:bodyPr wrap="square" lIns="0" rIns="0" tIns="0" bIns="0">
            <a:spAutoFit/>
          </a:bodyPr>
          <a:lstStyle/>
          <a:p>
            <a:pPr>
              <a:lnSpc>
                <a:spcPct val="112000"/>
              </a:lnSpc>
              <a:spcBef>
                <a:spcPts val="0"/>
              </a:spcBef>
              <a:spcAft>
                <a:spcPts val="500"/>
              </a:spcAft>
              <a:defRPr sz="1200" b="1">
                <a:solidFill>
                  <a:srgbClr val="D7EAA5"/>
                </a:solidFill>
                <a:latin typeface="Noto Sans"/>
              </a:defRPr>
            </a:pPr>
            <a:r>
              <a:t>03</a:t>
            </a:r>
          </a:p>
        </p:txBody>
      </p:sp>
      <p:sp>
        <p:nvSpPr>
          <p:cNvPr id="87" name="TextBox 86"/>
          <p:cNvSpPr txBox="1"/>
          <p:nvPr/>
        </p:nvSpPr>
        <p:spPr>
          <a:xfrm>
            <a:off x="6227064" y="5312664"/>
            <a:ext cx="1938528" cy="594360"/>
          </a:xfrm>
          <a:prstGeom prst="rect">
            <a:avLst/>
          </a:prstGeom>
          <a:noFill/>
        </p:spPr>
        <p:txBody>
          <a:bodyPr wrap="square" lIns="0" rIns="0" tIns="0" bIns="0">
            <a:spAutoFit/>
          </a:bodyPr>
          <a:lstStyle/>
          <a:p>
            <a:pPr>
              <a:lnSpc>
                <a:spcPct val="112000"/>
              </a:lnSpc>
              <a:spcBef>
                <a:spcPts val="0"/>
              </a:spcBef>
              <a:spcAft>
                <a:spcPts val="500"/>
              </a:spcAft>
              <a:defRPr sz="1300" b="0">
                <a:solidFill>
                  <a:srgbClr val="FFFFFF"/>
                </a:solidFill>
                <a:latin typeface="Noto Sans"/>
              </a:defRPr>
            </a:pPr>
            <a:r>
              <a:t>Пайвасти датчикҳо</a:t>
            </a:r>
          </a:p>
        </p:txBody>
      </p:sp>
      <p:sp>
        <p:nvSpPr>
          <p:cNvPr id="88" name="Rounded Rectangle 87"/>
          <p:cNvSpPr/>
          <p:nvPr/>
        </p:nvSpPr>
        <p:spPr>
          <a:xfrm>
            <a:off x="8567928" y="1737360"/>
            <a:ext cx="3008376" cy="3950208"/>
          </a:xfrm>
          <a:prstGeom prst="roundRect">
            <a:avLst>
              <a:gd name="adj" fmla="val 12000"/>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8750808" y="1956816"/>
            <a:ext cx="2642616" cy="2642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071125"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9151204"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231283"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311362"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391442"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9471521"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9551600"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9711759"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951997"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10112155"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0352393"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0512552"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0592631"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0672710"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0752789"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10832869"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10912948"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10993027" y="227713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9071125" y="235721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9551600" y="235721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ectangle 109"/>
          <p:cNvSpPr/>
          <p:nvPr/>
        </p:nvSpPr>
        <p:spPr>
          <a:xfrm>
            <a:off x="9711759" y="235721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9871917" y="235721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0192234" y="235721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10352393" y="235721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0512552" y="235721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10993027" y="235721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9071125"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9231283"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9311362"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9391442"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9551600"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9791838"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9871917"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9951997"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0112155"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0192234"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10272314"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ectangle 126"/>
          <p:cNvSpPr/>
          <p:nvPr/>
        </p:nvSpPr>
        <p:spPr>
          <a:xfrm>
            <a:off x="10352393"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0512552"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ectangle 128"/>
          <p:cNvSpPr/>
          <p:nvPr/>
        </p:nvSpPr>
        <p:spPr>
          <a:xfrm>
            <a:off x="10672710"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ectangle 129"/>
          <p:cNvSpPr/>
          <p:nvPr/>
        </p:nvSpPr>
        <p:spPr>
          <a:xfrm>
            <a:off x="10752789"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ectangle 130"/>
          <p:cNvSpPr/>
          <p:nvPr/>
        </p:nvSpPr>
        <p:spPr>
          <a:xfrm>
            <a:off x="10832869"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ectangle 131"/>
          <p:cNvSpPr/>
          <p:nvPr/>
        </p:nvSpPr>
        <p:spPr>
          <a:xfrm>
            <a:off x="10993027" y="243729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9071125"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9231283"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9311362"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9391442"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9551600"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Rectangle 137"/>
          <p:cNvSpPr/>
          <p:nvPr/>
        </p:nvSpPr>
        <p:spPr>
          <a:xfrm>
            <a:off x="9711759"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ectangle 138"/>
          <p:cNvSpPr/>
          <p:nvPr/>
        </p:nvSpPr>
        <p:spPr>
          <a:xfrm>
            <a:off x="9871917"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ectangle 139"/>
          <p:cNvSpPr/>
          <p:nvPr/>
        </p:nvSpPr>
        <p:spPr>
          <a:xfrm>
            <a:off x="10032076"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10112155"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0192234"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Rectangle 142"/>
          <p:cNvSpPr/>
          <p:nvPr/>
        </p:nvSpPr>
        <p:spPr>
          <a:xfrm>
            <a:off x="10272314"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Rectangle 143"/>
          <p:cNvSpPr/>
          <p:nvPr/>
        </p:nvSpPr>
        <p:spPr>
          <a:xfrm>
            <a:off x="10352393"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10512552"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10672710"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Rectangle 146"/>
          <p:cNvSpPr/>
          <p:nvPr/>
        </p:nvSpPr>
        <p:spPr>
          <a:xfrm>
            <a:off x="10752789"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10832869"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10993027" y="251737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9071125"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9231283"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9311362"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ectangle 152"/>
          <p:cNvSpPr/>
          <p:nvPr/>
        </p:nvSpPr>
        <p:spPr>
          <a:xfrm>
            <a:off x="9391442"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9551600"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9871917"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10272314"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10352393"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ectangle 157"/>
          <p:cNvSpPr/>
          <p:nvPr/>
        </p:nvSpPr>
        <p:spPr>
          <a:xfrm>
            <a:off x="10512552"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Rectangle 158"/>
          <p:cNvSpPr/>
          <p:nvPr/>
        </p:nvSpPr>
        <p:spPr>
          <a:xfrm>
            <a:off x="10672710"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10752789"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10832869"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10993027" y="259745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9071125" y="267752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9551600" y="267752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9791838" y="267752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9951997" y="267752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ectangle 166"/>
          <p:cNvSpPr/>
          <p:nvPr/>
        </p:nvSpPr>
        <p:spPr>
          <a:xfrm>
            <a:off x="10112155" y="267752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Rectangle 167"/>
          <p:cNvSpPr/>
          <p:nvPr/>
        </p:nvSpPr>
        <p:spPr>
          <a:xfrm>
            <a:off x="10192234" y="267752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Rectangle 168"/>
          <p:cNvSpPr/>
          <p:nvPr/>
        </p:nvSpPr>
        <p:spPr>
          <a:xfrm>
            <a:off x="10352393" y="267752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Rectangle 169"/>
          <p:cNvSpPr/>
          <p:nvPr/>
        </p:nvSpPr>
        <p:spPr>
          <a:xfrm>
            <a:off x="10512552" y="267752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Rectangle 170"/>
          <p:cNvSpPr/>
          <p:nvPr/>
        </p:nvSpPr>
        <p:spPr>
          <a:xfrm>
            <a:off x="10993027" y="267752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Rectangle 171"/>
          <p:cNvSpPr/>
          <p:nvPr/>
        </p:nvSpPr>
        <p:spPr>
          <a:xfrm>
            <a:off x="9071125"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ectangle 172"/>
          <p:cNvSpPr/>
          <p:nvPr/>
        </p:nvSpPr>
        <p:spPr>
          <a:xfrm>
            <a:off x="9151204"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Rectangle 173"/>
          <p:cNvSpPr/>
          <p:nvPr/>
        </p:nvSpPr>
        <p:spPr>
          <a:xfrm>
            <a:off x="9231283"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Rectangle 174"/>
          <p:cNvSpPr/>
          <p:nvPr/>
        </p:nvSpPr>
        <p:spPr>
          <a:xfrm>
            <a:off x="9311362"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Rectangle 175"/>
          <p:cNvSpPr/>
          <p:nvPr/>
        </p:nvSpPr>
        <p:spPr>
          <a:xfrm>
            <a:off x="9391442"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ectangle 176"/>
          <p:cNvSpPr/>
          <p:nvPr/>
        </p:nvSpPr>
        <p:spPr>
          <a:xfrm>
            <a:off x="9471521"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9551600"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9711759"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9871917"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10032076"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Rectangle 181"/>
          <p:cNvSpPr/>
          <p:nvPr/>
        </p:nvSpPr>
        <p:spPr>
          <a:xfrm>
            <a:off x="10192234"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Rectangle 182"/>
          <p:cNvSpPr/>
          <p:nvPr/>
        </p:nvSpPr>
        <p:spPr>
          <a:xfrm>
            <a:off x="10352393"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Rectangle 183"/>
          <p:cNvSpPr/>
          <p:nvPr/>
        </p:nvSpPr>
        <p:spPr>
          <a:xfrm>
            <a:off x="10512552"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0592631"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Rectangle 185"/>
          <p:cNvSpPr/>
          <p:nvPr/>
        </p:nvSpPr>
        <p:spPr>
          <a:xfrm>
            <a:off x="10672710"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ectangle 186"/>
          <p:cNvSpPr/>
          <p:nvPr/>
        </p:nvSpPr>
        <p:spPr>
          <a:xfrm>
            <a:off x="10752789"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Rectangle 187"/>
          <p:cNvSpPr/>
          <p:nvPr/>
        </p:nvSpPr>
        <p:spPr>
          <a:xfrm>
            <a:off x="10832869"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10912948"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Rectangle 189"/>
          <p:cNvSpPr/>
          <p:nvPr/>
        </p:nvSpPr>
        <p:spPr>
          <a:xfrm>
            <a:off x="10993027" y="275760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Rectangle 190"/>
          <p:cNvSpPr/>
          <p:nvPr/>
        </p:nvSpPr>
        <p:spPr>
          <a:xfrm>
            <a:off x="9711759" y="283768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Rectangle 191"/>
          <p:cNvSpPr/>
          <p:nvPr/>
        </p:nvSpPr>
        <p:spPr>
          <a:xfrm>
            <a:off x="9791838" y="283768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9951997" y="283768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Rectangle 193"/>
          <p:cNvSpPr/>
          <p:nvPr/>
        </p:nvSpPr>
        <p:spPr>
          <a:xfrm>
            <a:off x="10032076" y="283768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Rectangle 194"/>
          <p:cNvSpPr/>
          <p:nvPr/>
        </p:nvSpPr>
        <p:spPr>
          <a:xfrm>
            <a:off x="10192234" y="283768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Rectangle 195"/>
          <p:cNvSpPr/>
          <p:nvPr/>
        </p:nvSpPr>
        <p:spPr>
          <a:xfrm>
            <a:off x="10272314" y="283768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10352393" y="283768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Rectangle 197"/>
          <p:cNvSpPr/>
          <p:nvPr/>
        </p:nvSpPr>
        <p:spPr>
          <a:xfrm>
            <a:off x="9071125"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Rectangle 198"/>
          <p:cNvSpPr/>
          <p:nvPr/>
        </p:nvSpPr>
        <p:spPr>
          <a:xfrm>
            <a:off x="9231283"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Rectangle 199"/>
          <p:cNvSpPr/>
          <p:nvPr/>
        </p:nvSpPr>
        <p:spPr>
          <a:xfrm>
            <a:off x="9311362"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9471521"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Rectangle 201"/>
          <p:cNvSpPr/>
          <p:nvPr/>
        </p:nvSpPr>
        <p:spPr>
          <a:xfrm>
            <a:off x="9551600"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Rectangle 202"/>
          <p:cNvSpPr/>
          <p:nvPr/>
        </p:nvSpPr>
        <p:spPr>
          <a:xfrm>
            <a:off x="9631680"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Rectangle 203"/>
          <p:cNvSpPr/>
          <p:nvPr/>
        </p:nvSpPr>
        <p:spPr>
          <a:xfrm>
            <a:off x="9951997"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10192234"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10272314"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Rectangle 206"/>
          <p:cNvSpPr/>
          <p:nvPr/>
        </p:nvSpPr>
        <p:spPr>
          <a:xfrm>
            <a:off x="10352393"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Rectangle 207"/>
          <p:cNvSpPr/>
          <p:nvPr/>
        </p:nvSpPr>
        <p:spPr>
          <a:xfrm>
            <a:off x="10512552"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Rectangle 208"/>
          <p:cNvSpPr/>
          <p:nvPr/>
        </p:nvSpPr>
        <p:spPr>
          <a:xfrm>
            <a:off x="10752789"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Rectangle 209"/>
          <p:cNvSpPr/>
          <p:nvPr/>
        </p:nvSpPr>
        <p:spPr>
          <a:xfrm>
            <a:off x="10912948"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Rectangle 210"/>
          <p:cNvSpPr/>
          <p:nvPr/>
        </p:nvSpPr>
        <p:spPr>
          <a:xfrm>
            <a:off x="10993027" y="291776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Rectangle 211"/>
          <p:cNvSpPr/>
          <p:nvPr/>
        </p:nvSpPr>
        <p:spPr>
          <a:xfrm>
            <a:off x="9071125" y="299784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Rectangle 212"/>
          <p:cNvSpPr/>
          <p:nvPr/>
        </p:nvSpPr>
        <p:spPr>
          <a:xfrm>
            <a:off x="9151204" y="299784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9231283" y="299784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Rectangle 214"/>
          <p:cNvSpPr/>
          <p:nvPr/>
        </p:nvSpPr>
        <p:spPr>
          <a:xfrm>
            <a:off x="9471521" y="299784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Rectangle 215"/>
          <p:cNvSpPr/>
          <p:nvPr/>
        </p:nvSpPr>
        <p:spPr>
          <a:xfrm>
            <a:off x="9711759" y="299784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Rectangle 216"/>
          <p:cNvSpPr/>
          <p:nvPr/>
        </p:nvSpPr>
        <p:spPr>
          <a:xfrm>
            <a:off x="9871917" y="299784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Rectangle 217"/>
          <p:cNvSpPr/>
          <p:nvPr/>
        </p:nvSpPr>
        <p:spPr>
          <a:xfrm>
            <a:off x="9951997" y="299784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Rectangle 218"/>
          <p:cNvSpPr/>
          <p:nvPr/>
        </p:nvSpPr>
        <p:spPr>
          <a:xfrm>
            <a:off x="10592631" y="299784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10912948" y="299784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Rectangle 220"/>
          <p:cNvSpPr/>
          <p:nvPr/>
        </p:nvSpPr>
        <p:spPr>
          <a:xfrm>
            <a:off x="9071125" y="307792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Rectangle 221"/>
          <p:cNvSpPr/>
          <p:nvPr/>
        </p:nvSpPr>
        <p:spPr>
          <a:xfrm>
            <a:off x="9151204" y="307792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Rectangle 222"/>
          <p:cNvSpPr/>
          <p:nvPr/>
        </p:nvSpPr>
        <p:spPr>
          <a:xfrm>
            <a:off x="9471521" y="307792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Rectangle 223"/>
          <p:cNvSpPr/>
          <p:nvPr/>
        </p:nvSpPr>
        <p:spPr>
          <a:xfrm>
            <a:off x="9551600" y="307792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Rectangle 224"/>
          <p:cNvSpPr/>
          <p:nvPr/>
        </p:nvSpPr>
        <p:spPr>
          <a:xfrm>
            <a:off x="9631680" y="307792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9711759" y="307792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Rectangle 226"/>
          <p:cNvSpPr/>
          <p:nvPr/>
        </p:nvSpPr>
        <p:spPr>
          <a:xfrm>
            <a:off x="9791838" y="307792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Rectangle 227"/>
          <p:cNvSpPr/>
          <p:nvPr/>
        </p:nvSpPr>
        <p:spPr>
          <a:xfrm>
            <a:off x="9871917" y="307792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10432472" y="307792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10592631" y="307792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Rectangle 230"/>
          <p:cNvSpPr/>
          <p:nvPr/>
        </p:nvSpPr>
        <p:spPr>
          <a:xfrm>
            <a:off x="9151204"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9311362"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Rectangle 232"/>
          <p:cNvSpPr/>
          <p:nvPr/>
        </p:nvSpPr>
        <p:spPr>
          <a:xfrm>
            <a:off x="9391442"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711759"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Rectangle 234"/>
          <p:cNvSpPr/>
          <p:nvPr/>
        </p:nvSpPr>
        <p:spPr>
          <a:xfrm>
            <a:off x="9791838"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Rectangle 235"/>
          <p:cNvSpPr/>
          <p:nvPr/>
        </p:nvSpPr>
        <p:spPr>
          <a:xfrm>
            <a:off x="9871917"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Rectangle 236"/>
          <p:cNvSpPr/>
          <p:nvPr/>
        </p:nvSpPr>
        <p:spPr>
          <a:xfrm>
            <a:off x="9951997"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0032076"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Rectangle 238"/>
          <p:cNvSpPr/>
          <p:nvPr/>
        </p:nvSpPr>
        <p:spPr>
          <a:xfrm>
            <a:off x="10112155"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Rectangle 239"/>
          <p:cNvSpPr/>
          <p:nvPr/>
        </p:nvSpPr>
        <p:spPr>
          <a:xfrm>
            <a:off x="10192234"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Rectangle 240"/>
          <p:cNvSpPr/>
          <p:nvPr/>
        </p:nvSpPr>
        <p:spPr>
          <a:xfrm>
            <a:off x="10352393"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0512552"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10672710"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Rectangle 243"/>
          <p:cNvSpPr/>
          <p:nvPr/>
        </p:nvSpPr>
        <p:spPr>
          <a:xfrm>
            <a:off x="10752789"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Rectangle 244"/>
          <p:cNvSpPr/>
          <p:nvPr/>
        </p:nvSpPr>
        <p:spPr>
          <a:xfrm>
            <a:off x="10832869" y="315800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Rectangle 245"/>
          <p:cNvSpPr/>
          <p:nvPr/>
        </p:nvSpPr>
        <p:spPr>
          <a:xfrm>
            <a:off x="9071125"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9391442"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9471521"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551600"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Rectangle 249"/>
          <p:cNvSpPr/>
          <p:nvPr/>
        </p:nvSpPr>
        <p:spPr>
          <a:xfrm>
            <a:off x="9631680"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Rectangle 250"/>
          <p:cNvSpPr/>
          <p:nvPr/>
        </p:nvSpPr>
        <p:spPr>
          <a:xfrm>
            <a:off x="9711759"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9871917"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10432472"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Rectangle 253"/>
          <p:cNvSpPr/>
          <p:nvPr/>
        </p:nvSpPr>
        <p:spPr>
          <a:xfrm>
            <a:off x="10512552"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Rectangle 254"/>
          <p:cNvSpPr/>
          <p:nvPr/>
        </p:nvSpPr>
        <p:spPr>
          <a:xfrm>
            <a:off x="10672710"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Rectangle 255"/>
          <p:cNvSpPr/>
          <p:nvPr/>
        </p:nvSpPr>
        <p:spPr>
          <a:xfrm>
            <a:off x="10832869"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10912948"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Rectangle 257"/>
          <p:cNvSpPr/>
          <p:nvPr/>
        </p:nvSpPr>
        <p:spPr>
          <a:xfrm>
            <a:off x="10993027" y="3238084"/>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Rectangle 258"/>
          <p:cNvSpPr/>
          <p:nvPr/>
        </p:nvSpPr>
        <p:spPr>
          <a:xfrm>
            <a:off x="9231283"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Rectangle 259"/>
          <p:cNvSpPr/>
          <p:nvPr/>
        </p:nvSpPr>
        <p:spPr>
          <a:xfrm>
            <a:off x="9471521"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Rectangle 260"/>
          <p:cNvSpPr/>
          <p:nvPr/>
        </p:nvSpPr>
        <p:spPr>
          <a:xfrm>
            <a:off x="9631680"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9791838"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9871917"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9951997"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10112155"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Rectangle 265"/>
          <p:cNvSpPr/>
          <p:nvPr/>
        </p:nvSpPr>
        <p:spPr>
          <a:xfrm>
            <a:off x="10192234"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Rectangle 266"/>
          <p:cNvSpPr/>
          <p:nvPr/>
        </p:nvSpPr>
        <p:spPr>
          <a:xfrm>
            <a:off x="10272314"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Rectangle 267"/>
          <p:cNvSpPr/>
          <p:nvPr/>
        </p:nvSpPr>
        <p:spPr>
          <a:xfrm>
            <a:off x="10352393"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Rectangle 268"/>
          <p:cNvSpPr/>
          <p:nvPr/>
        </p:nvSpPr>
        <p:spPr>
          <a:xfrm>
            <a:off x="10432472"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10512552"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10592631"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Rectangle 271"/>
          <p:cNvSpPr/>
          <p:nvPr/>
        </p:nvSpPr>
        <p:spPr>
          <a:xfrm>
            <a:off x="10672710"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Rectangle 272"/>
          <p:cNvSpPr/>
          <p:nvPr/>
        </p:nvSpPr>
        <p:spPr>
          <a:xfrm>
            <a:off x="10993027" y="3318163"/>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9151204"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9471521"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Rectangle 275"/>
          <p:cNvSpPr/>
          <p:nvPr/>
        </p:nvSpPr>
        <p:spPr>
          <a:xfrm>
            <a:off x="9551600"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9711759"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9791838"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Rectangle 278"/>
          <p:cNvSpPr/>
          <p:nvPr/>
        </p:nvSpPr>
        <p:spPr>
          <a:xfrm>
            <a:off x="9871917"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Rectangle 279"/>
          <p:cNvSpPr/>
          <p:nvPr/>
        </p:nvSpPr>
        <p:spPr>
          <a:xfrm>
            <a:off x="10032076"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Rectangle 280"/>
          <p:cNvSpPr/>
          <p:nvPr/>
        </p:nvSpPr>
        <p:spPr>
          <a:xfrm>
            <a:off x="10192234"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Rectangle 281"/>
          <p:cNvSpPr/>
          <p:nvPr/>
        </p:nvSpPr>
        <p:spPr>
          <a:xfrm>
            <a:off x="10512552"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Rectangle 282"/>
          <p:cNvSpPr/>
          <p:nvPr/>
        </p:nvSpPr>
        <p:spPr>
          <a:xfrm>
            <a:off x="10672710"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Rectangle 283"/>
          <p:cNvSpPr/>
          <p:nvPr/>
        </p:nvSpPr>
        <p:spPr>
          <a:xfrm>
            <a:off x="10832869"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10912948" y="339824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9071125"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Rectangle 286"/>
          <p:cNvSpPr/>
          <p:nvPr/>
        </p:nvSpPr>
        <p:spPr>
          <a:xfrm>
            <a:off x="9231283"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Rectangle 287"/>
          <p:cNvSpPr/>
          <p:nvPr/>
        </p:nvSpPr>
        <p:spPr>
          <a:xfrm>
            <a:off x="9311362"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Rectangle 288"/>
          <p:cNvSpPr/>
          <p:nvPr/>
        </p:nvSpPr>
        <p:spPr>
          <a:xfrm>
            <a:off x="9631680"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Rectangle 289"/>
          <p:cNvSpPr/>
          <p:nvPr/>
        </p:nvSpPr>
        <p:spPr>
          <a:xfrm>
            <a:off x="9791838"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10032076"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10112155"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Rectangle 292"/>
          <p:cNvSpPr/>
          <p:nvPr/>
        </p:nvSpPr>
        <p:spPr>
          <a:xfrm>
            <a:off x="10432472"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Rectangle 293"/>
          <p:cNvSpPr/>
          <p:nvPr/>
        </p:nvSpPr>
        <p:spPr>
          <a:xfrm>
            <a:off x="10512552"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Rectangle 294"/>
          <p:cNvSpPr/>
          <p:nvPr/>
        </p:nvSpPr>
        <p:spPr>
          <a:xfrm>
            <a:off x="10592631"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Rectangle 295"/>
          <p:cNvSpPr/>
          <p:nvPr/>
        </p:nvSpPr>
        <p:spPr>
          <a:xfrm>
            <a:off x="10672710"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10993027" y="3478322"/>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9311362"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Rectangle 298"/>
          <p:cNvSpPr/>
          <p:nvPr/>
        </p:nvSpPr>
        <p:spPr>
          <a:xfrm>
            <a:off x="9391442"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9471521"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9551600"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Rectangle 301"/>
          <p:cNvSpPr/>
          <p:nvPr/>
        </p:nvSpPr>
        <p:spPr>
          <a:xfrm>
            <a:off x="9711759"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ectangle 302"/>
          <p:cNvSpPr/>
          <p:nvPr/>
        </p:nvSpPr>
        <p:spPr>
          <a:xfrm>
            <a:off x="9791838"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Rectangle 303"/>
          <p:cNvSpPr/>
          <p:nvPr/>
        </p:nvSpPr>
        <p:spPr>
          <a:xfrm>
            <a:off x="9951997"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Rectangle 304"/>
          <p:cNvSpPr/>
          <p:nvPr/>
        </p:nvSpPr>
        <p:spPr>
          <a:xfrm>
            <a:off x="10352393"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10432472"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Rectangle 306"/>
          <p:cNvSpPr/>
          <p:nvPr/>
        </p:nvSpPr>
        <p:spPr>
          <a:xfrm>
            <a:off x="10512552"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Rectangle 307"/>
          <p:cNvSpPr/>
          <p:nvPr/>
        </p:nvSpPr>
        <p:spPr>
          <a:xfrm>
            <a:off x="10592631"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ectangle 308"/>
          <p:cNvSpPr/>
          <p:nvPr/>
        </p:nvSpPr>
        <p:spPr>
          <a:xfrm>
            <a:off x="10672710"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Rectangle 309"/>
          <p:cNvSpPr/>
          <p:nvPr/>
        </p:nvSpPr>
        <p:spPr>
          <a:xfrm>
            <a:off x="10752789"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10832869"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ectangle 311"/>
          <p:cNvSpPr/>
          <p:nvPr/>
        </p:nvSpPr>
        <p:spPr>
          <a:xfrm>
            <a:off x="10912948"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Rectangle 312"/>
          <p:cNvSpPr/>
          <p:nvPr/>
        </p:nvSpPr>
        <p:spPr>
          <a:xfrm>
            <a:off x="10993027" y="3558401"/>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Rectangle 313"/>
          <p:cNvSpPr/>
          <p:nvPr/>
        </p:nvSpPr>
        <p:spPr>
          <a:xfrm>
            <a:off x="9711759" y="363848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9871917" y="363848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Rectangle 315"/>
          <p:cNvSpPr/>
          <p:nvPr/>
        </p:nvSpPr>
        <p:spPr>
          <a:xfrm>
            <a:off x="10032076" y="363848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Rectangle 316"/>
          <p:cNvSpPr/>
          <p:nvPr/>
        </p:nvSpPr>
        <p:spPr>
          <a:xfrm>
            <a:off x="10112155" y="363848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Rectangle 317"/>
          <p:cNvSpPr/>
          <p:nvPr/>
        </p:nvSpPr>
        <p:spPr>
          <a:xfrm>
            <a:off x="10272314" y="363848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10352393" y="363848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Rectangle 319"/>
          <p:cNvSpPr/>
          <p:nvPr/>
        </p:nvSpPr>
        <p:spPr>
          <a:xfrm>
            <a:off x="10672710" y="363848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Rectangle 320"/>
          <p:cNvSpPr/>
          <p:nvPr/>
        </p:nvSpPr>
        <p:spPr>
          <a:xfrm>
            <a:off x="10832869" y="363848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Rectangle 321"/>
          <p:cNvSpPr/>
          <p:nvPr/>
        </p:nvSpPr>
        <p:spPr>
          <a:xfrm>
            <a:off x="10993027" y="363848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Rectangle 322"/>
          <p:cNvSpPr/>
          <p:nvPr/>
        </p:nvSpPr>
        <p:spPr>
          <a:xfrm>
            <a:off x="9071125"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Rectangle 323"/>
          <p:cNvSpPr/>
          <p:nvPr/>
        </p:nvSpPr>
        <p:spPr>
          <a:xfrm>
            <a:off x="9151204"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Rectangle 324"/>
          <p:cNvSpPr/>
          <p:nvPr/>
        </p:nvSpPr>
        <p:spPr>
          <a:xfrm>
            <a:off x="9231283"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Rectangle 325"/>
          <p:cNvSpPr/>
          <p:nvPr/>
        </p:nvSpPr>
        <p:spPr>
          <a:xfrm>
            <a:off x="9311362"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Rectangle 326"/>
          <p:cNvSpPr/>
          <p:nvPr/>
        </p:nvSpPr>
        <p:spPr>
          <a:xfrm>
            <a:off x="9391442"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Rectangle 327"/>
          <p:cNvSpPr/>
          <p:nvPr/>
        </p:nvSpPr>
        <p:spPr>
          <a:xfrm>
            <a:off x="9471521"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Rectangle 328"/>
          <p:cNvSpPr/>
          <p:nvPr/>
        </p:nvSpPr>
        <p:spPr>
          <a:xfrm>
            <a:off x="9551600"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Rectangle 329"/>
          <p:cNvSpPr/>
          <p:nvPr/>
        </p:nvSpPr>
        <p:spPr>
          <a:xfrm>
            <a:off x="9711759"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9791838"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Rectangle 331"/>
          <p:cNvSpPr/>
          <p:nvPr/>
        </p:nvSpPr>
        <p:spPr>
          <a:xfrm>
            <a:off x="9951997"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Rectangle 332"/>
          <p:cNvSpPr/>
          <p:nvPr/>
        </p:nvSpPr>
        <p:spPr>
          <a:xfrm>
            <a:off x="10032076"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Rectangle 333"/>
          <p:cNvSpPr/>
          <p:nvPr/>
        </p:nvSpPr>
        <p:spPr>
          <a:xfrm>
            <a:off x="10352393"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0512552"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Rectangle 335"/>
          <p:cNvSpPr/>
          <p:nvPr/>
        </p:nvSpPr>
        <p:spPr>
          <a:xfrm>
            <a:off x="10672710"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Rectangle 336"/>
          <p:cNvSpPr/>
          <p:nvPr/>
        </p:nvSpPr>
        <p:spPr>
          <a:xfrm>
            <a:off x="10832869"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Rectangle 337"/>
          <p:cNvSpPr/>
          <p:nvPr/>
        </p:nvSpPr>
        <p:spPr>
          <a:xfrm>
            <a:off x="10912948"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0993027" y="3718560"/>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Rectangle 339"/>
          <p:cNvSpPr/>
          <p:nvPr/>
        </p:nvSpPr>
        <p:spPr>
          <a:xfrm>
            <a:off x="9071125" y="379863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Rectangle 340"/>
          <p:cNvSpPr/>
          <p:nvPr/>
        </p:nvSpPr>
        <p:spPr>
          <a:xfrm>
            <a:off x="9551600" y="379863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Rectangle 341"/>
          <p:cNvSpPr/>
          <p:nvPr/>
        </p:nvSpPr>
        <p:spPr>
          <a:xfrm>
            <a:off x="9711759" y="379863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Rectangle 342"/>
          <p:cNvSpPr/>
          <p:nvPr/>
        </p:nvSpPr>
        <p:spPr>
          <a:xfrm>
            <a:off x="9791838" y="379863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Rectangle 343"/>
          <p:cNvSpPr/>
          <p:nvPr/>
        </p:nvSpPr>
        <p:spPr>
          <a:xfrm>
            <a:off x="9871917" y="379863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Rectangle 344"/>
          <p:cNvSpPr/>
          <p:nvPr/>
        </p:nvSpPr>
        <p:spPr>
          <a:xfrm>
            <a:off x="10032076" y="379863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Rectangle 345"/>
          <p:cNvSpPr/>
          <p:nvPr/>
        </p:nvSpPr>
        <p:spPr>
          <a:xfrm>
            <a:off x="10272314" y="379863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Rectangle 346"/>
          <p:cNvSpPr/>
          <p:nvPr/>
        </p:nvSpPr>
        <p:spPr>
          <a:xfrm>
            <a:off x="10352393" y="379863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Rectangle 347"/>
          <p:cNvSpPr/>
          <p:nvPr/>
        </p:nvSpPr>
        <p:spPr>
          <a:xfrm>
            <a:off x="10672710" y="379863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Rectangle 348"/>
          <p:cNvSpPr/>
          <p:nvPr/>
        </p:nvSpPr>
        <p:spPr>
          <a:xfrm>
            <a:off x="10912948" y="3798639"/>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Rectangle 349"/>
          <p:cNvSpPr/>
          <p:nvPr/>
        </p:nvSpPr>
        <p:spPr>
          <a:xfrm>
            <a:off x="9071125"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Rectangle 350"/>
          <p:cNvSpPr/>
          <p:nvPr/>
        </p:nvSpPr>
        <p:spPr>
          <a:xfrm>
            <a:off x="9231283"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Rectangle 351"/>
          <p:cNvSpPr/>
          <p:nvPr/>
        </p:nvSpPr>
        <p:spPr>
          <a:xfrm>
            <a:off x="9311362"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Rectangle 352"/>
          <p:cNvSpPr/>
          <p:nvPr/>
        </p:nvSpPr>
        <p:spPr>
          <a:xfrm>
            <a:off x="9391442"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Rectangle 353"/>
          <p:cNvSpPr/>
          <p:nvPr/>
        </p:nvSpPr>
        <p:spPr>
          <a:xfrm>
            <a:off x="9551600"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Rectangle 354"/>
          <p:cNvSpPr/>
          <p:nvPr/>
        </p:nvSpPr>
        <p:spPr>
          <a:xfrm>
            <a:off x="9791838"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Rectangle 355"/>
          <p:cNvSpPr/>
          <p:nvPr/>
        </p:nvSpPr>
        <p:spPr>
          <a:xfrm>
            <a:off x="9951997"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Rectangle 356"/>
          <p:cNvSpPr/>
          <p:nvPr/>
        </p:nvSpPr>
        <p:spPr>
          <a:xfrm>
            <a:off x="10032076"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Rectangle 357"/>
          <p:cNvSpPr/>
          <p:nvPr/>
        </p:nvSpPr>
        <p:spPr>
          <a:xfrm>
            <a:off x="10112155"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Rectangle 358"/>
          <p:cNvSpPr/>
          <p:nvPr/>
        </p:nvSpPr>
        <p:spPr>
          <a:xfrm>
            <a:off x="10352393"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Rectangle 359"/>
          <p:cNvSpPr/>
          <p:nvPr/>
        </p:nvSpPr>
        <p:spPr>
          <a:xfrm>
            <a:off x="10432472"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Rectangle 360"/>
          <p:cNvSpPr/>
          <p:nvPr/>
        </p:nvSpPr>
        <p:spPr>
          <a:xfrm>
            <a:off x="10512552"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Rectangle 361"/>
          <p:cNvSpPr/>
          <p:nvPr/>
        </p:nvSpPr>
        <p:spPr>
          <a:xfrm>
            <a:off x="10592631"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Rectangle 362"/>
          <p:cNvSpPr/>
          <p:nvPr/>
        </p:nvSpPr>
        <p:spPr>
          <a:xfrm>
            <a:off x="10672710"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Rectangle 363"/>
          <p:cNvSpPr/>
          <p:nvPr/>
        </p:nvSpPr>
        <p:spPr>
          <a:xfrm>
            <a:off x="10752789"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Rectangle 364"/>
          <p:cNvSpPr/>
          <p:nvPr/>
        </p:nvSpPr>
        <p:spPr>
          <a:xfrm>
            <a:off x="10912948" y="3878718"/>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Rectangle 365"/>
          <p:cNvSpPr/>
          <p:nvPr/>
        </p:nvSpPr>
        <p:spPr>
          <a:xfrm>
            <a:off x="9071125"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Rectangle 366"/>
          <p:cNvSpPr/>
          <p:nvPr/>
        </p:nvSpPr>
        <p:spPr>
          <a:xfrm>
            <a:off x="9231283"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Rectangle 367"/>
          <p:cNvSpPr/>
          <p:nvPr/>
        </p:nvSpPr>
        <p:spPr>
          <a:xfrm>
            <a:off x="9311362"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Rectangle 368"/>
          <p:cNvSpPr/>
          <p:nvPr/>
        </p:nvSpPr>
        <p:spPr>
          <a:xfrm>
            <a:off x="9391442"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Rectangle 369"/>
          <p:cNvSpPr/>
          <p:nvPr/>
        </p:nvSpPr>
        <p:spPr>
          <a:xfrm>
            <a:off x="9551600"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Rectangle 370"/>
          <p:cNvSpPr/>
          <p:nvPr/>
        </p:nvSpPr>
        <p:spPr>
          <a:xfrm>
            <a:off x="9711759"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Rectangle 371"/>
          <p:cNvSpPr/>
          <p:nvPr/>
        </p:nvSpPr>
        <p:spPr>
          <a:xfrm>
            <a:off x="9871917"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Rectangle 372"/>
          <p:cNvSpPr/>
          <p:nvPr/>
        </p:nvSpPr>
        <p:spPr>
          <a:xfrm>
            <a:off x="10032076"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Rectangle 373"/>
          <p:cNvSpPr/>
          <p:nvPr/>
        </p:nvSpPr>
        <p:spPr>
          <a:xfrm>
            <a:off x="10112155"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Rectangle 374"/>
          <p:cNvSpPr/>
          <p:nvPr/>
        </p:nvSpPr>
        <p:spPr>
          <a:xfrm>
            <a:off x="10192234"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Rectangle 375"/>
          <p:cNvSpPr/>
          <p:nvPr/>
        </p:nvSpPr>
        <p:spPr>
          <a:xfrm>
            <a:off x="10432472"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Rectangle 376"/>
          <p:cNvSpPr/>
          <p:nvPr/>
        </p:nvSpPr>
        <p:spPr>
          <a:xfrm>
            <a:off x="10512552"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Rectangle 377"/>
          <p:cNvSpPr/>
          <p:nvPr/>
        </p:nvSpPr>
        <p:spPr>
          <a:xfrm>
            <a:off x="10672710"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Rectangle 378"/>
          <p:cNvSpPr/>
          <p:nvPr/>
        </p:nvSpPr>
        <p:spPr>
          <a:xfrm>
            <a:off x="10752789"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10832869"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Rectangle 380"/>
          <p:cNvSpPr/>
          <p:nvPr/>
        </p:nvSpPr>
        <p:spPr>
          <a:xfrm>
            <a:off x="10912948"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Rectangle 381"/>
          <p:cNvSpPr/>
          <p:nvPr/>
        </p:nvSpPr>
        <p:spPr>
          <a:xfrm>
            <a:off x="10993027" y="395879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Rectangle 382"/>
          <p:cNvSpPr/>
          <p:nvPr/>
        </p:nvSpPr>
        <p:spPr>
          <a:xfrm>
            <a:off x="9071125"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Rectangle 383"/>
          <p:cNvSpPr/>
          <p:nvPr/>
        </p:nvSpPr>
        <p:spPr>
          <a:xfrm>
            <a:off x="9231283"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Rectangle 384"/>
          <p:cNvSpPr/>
          <p:nvPr/>
        </p:nvSpPr>
        <p:spPr>
          <a:xfrm>
            <a:off x="9311362"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Rectangle 385"/>
          <p:cNvSpPr/>
          <p:nvPr/>
        </p:nvSpPr>
        <p:spPr>
          <a:xfrm>
            <a:off x="9391442"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Rectangle 386"/>
          <p:cNvSpPr/>
          <p:nvPr/>
        </p:nvSpPr>
        <p:spPr>
          <a:xfrm>
            <a:off x="9551600"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Rectangle 387"/>
          <p:cNvSpPr/>
          <p:nvPr/>
        </p:nvSpPr>
        <p:spPr>
          <a:xfrm>
            <a:off x="9711759"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Rectangle 388"/>
          <p:cNvSpPr/>
          <p:nvPr/>
        </p:nvSpPr>
        <p:spPr>
          <a:xfrm>
            <a:off x="9871917"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Rectangle 389"/>
          <p:cNvSpPr/>
          <p:nvPr/>
        </p:nvSpPr>
        <p:spPr>
          <a:xfrm>
            <a:off x="9951997"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Rectangle 390"/>
          <p:cNvSpPr/>
          <p:nvPr/>
        </p:nvSpPr>
        <p:spPr>
          <a:xfrm>
            <a:off x="10032076"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Rectangle 391"/>
          <p:cNvSpPr/>
          <p:nvPr/>
        </p:nvSpPr>
        <p:spPr>
          <a:xfrm>
            <a:off x="10112155"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Rectangle 392"/>
          <p:cNvSpPr/>
          <p:nvPr/>
        </p:nvSpPr>
        <p:spPr>
          <a:xfrm>
            <a:off x="10272314"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Rectangle 393"/>
          <p:cNvSpPr/>
          <p:nvPr/>
        </p:nvSpPr>
        <p:spPr>
          <a:xfrm>
            <a:off x="10432472"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Rectangle 394"/>
          <p:cNvSpPr/>
          <p:nvPr/>
        </p:nvSpPr>
        <p:spPr>
          <a:xfrm>
            <a:off x="10512552"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Rectangle 395"/>
          <p:cNvSpPr/>
          <p:nvPr/>
        </p:nvSpPr>
        <p:spPr>
          <a:xfrm>
            <a:off x="10672710"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Rectangle 396"/>
          <p:cNvSpPr/>
          <p:nvPr/>
        </p:nvSpPr>
        <p:spPr>
          <a:xfrm>
            <a:off x="10832869"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Rectangle 397"/>
          <p:cNvSpPr/>
          <p:nvPr/>
        </p:nvSpPr>
        <p:spPr>
          <a:xfrm>
            <a:off x="10912948" y="4038877"/>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Rectangle 398"/>
          <p:cNvSpPr/>
          <p:nvPr/>
        </p:nvSpPr>
        <p:spPr>
          <a:xfrm>
            <a:off x="9071125" y="411895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Rectangle 399"/>
          <p:cNvSpPr/>
          <p:nvPr/>
        </p:nvSpPr>
        <p:spPr>
          <a:xfrm>
            <a:off x="9551600" y="411895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Rectangle 400"/>
          <p:cNvSpPr/>
          <p:nvPr/>
        </p:nvSpPr>
        <p:spPr>
          <a:xfrm>
            <a:off x="9791838" y="411895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Rectangle 401"/>
          <p:cNvSpPr/>
          <p:nvPr/>
        </p:nvSpPr>
        <p:spPr>
          <a:xfrm>
            <a:off x="10272314" y="411895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Rectangle 402"/>
          <p:cNvSpPr/>
          <p:nvPr/>
        </p:nvSpPr>
        <p:spPr>
          <a:xfrm>
            <a:off x="10512552" y="411895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Rectangle 403"/>
          <p:cNvSpPr/>
          <p:nvPr/>
        </p:nvSpPr>
        <p:spPr>
          <a:xfrm>
            <a:off x="10672710" y="411895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Rectangle 404"/>
          <p:cNvSpPr/>
          <p:nvPr/>
        </p:nvSpPr>
        <p:spPr>
          <a:xfrm>
            <a:off x="10832869" y="4118956"/>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Rectangle 405"/>
          <p:cNvSpPr/>
          <p:nvPr/>
        </p:nvSpPr>
        <p:spPr>
          <a:xfrm>
            <a:off x="9071125"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Rectangle 406"/>
          <p:cNvSpPr/>
          <p:nvPr/>
        </p:nvSpPr>
        <p:spPr>
          <a:xfrm>
            <a:off x="9151204"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Rectangle 407"/>
          <p:cNvSpPr/>
          <p:nvPr/>
        </p:nvSpPr>
        <p:spPr>
          <a:xfrm>
            <a:off x="9231283"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Rectangle 408"/>
          <p:cNvSpPr/>
          <p:nvPr/>
        </p:nvSpPr>
        <p:spPr>
          <a:xfrm>
            <a:off x="9311362"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Rectangle 409"/>
          <p:cNvSpPr/>
          <p:nvPr/>
        </p:nvSpPr>
        <p:spPr>
          <a:xfrm>
            <a:off x="9391442"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Rectangle 410"/>
          <p:cNvSpPr/>
          <p:nvPr/>
        </p:nvSpPr>
        <p:spPr>
          <a:xfrm>
            <a:off x="9471521"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Rectangle 411"/>
          <p:cNvSpPr/>
          <p:nvPr/>
        </p:nvSpPr>
        <p:spPr>
          <a:xfrm>
            <a:off x="9551600"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Rectangle 412"/>
          <p:cNvSpPr/>
          <p:nvPr/>
        </p:nvSpPr>
        <p:spPr>
          <a:xfrm>
            <a:off x="9711759"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Rectangle 413"/>
          <p:cNvSpPr/>
          <p:nvPr/>
        </p:nvSpPr>
        <p:spPr>
          <a:xfrm>
            <a:off x="9871917"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Rectangle 414"/>
          <p:cNvSpPr/>
          <p:nvPr/>
        </p:nvSpPr>
        <p:spPr>
          <a:xfrm>
            <a:off x="10032076"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Rectangle 415"/>
          <p:cNvSpPr/>
          <p:nvPr/>
        </p:nvSpPr>
        <p:spPr>
          <a:xfrm>
            <a:off x="10192234"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Rectangle 416"/>
          <p:cNvSpPr/>
          <p:nvPr/>
        </p:nvSpPr>
        <p:spPr>
          <a:xfrm>
            <a:off x="10512552"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Rectangle 417"/>
          <p:cNvSpPr/>
          <p:nvPr/>
        </p:nvSpPr>
        <p:spPr>
          <a:xfrm>
            <a:off x="10592631"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Rectangle 418"/>
          <p:cNvSpPr/>
          <p:nvPr/>
        </p:nvSpPr>
        <p:spPr>
          <a:xfrm>
            <a:off x="10672710"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Rectangle 419"/>
          <p:cNvSpPr/>
          <p:nvPr/>
        </p:nvSpPr>
        <p:spPr>
          <a:xfrm>
            <a:off x="10752789"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Rectangle 420"/>
          <p:cNvSpPr/>
          <p:nvPr/>
        </p:nvSpPr>
        <p:spPr>
          <a:xfrm>
            <a:off x="10832869"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Rectangle 421"/>
          <p:cNvSpPr/>
          <p:nvPr/>
        </p:nvSpPr>
        <p:spPr>
          <a:xfrm>
            <a:off x="10912948"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Rectangle 422"/>
          <p:cNvSpPr/>
          <p:nvPr/>
        </p:nvSpPr>
        <p:spPr>
          <a:xfrm>
            <a:off x="10993027" y="4199035"/>
            <a:ext cx="80993" cy="80993"/>
          </a:xfrm>
          <a:prstGeom prst="rect">
            <a:avLst/>
          </a:prstGeom>
          <a:solidFill>
            <a:srgbClr val="183C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TextBox 423"/>
          <p:cNvSpPr txBox="1"/>
          <p:nvPr/>
        </p:nvSpPr>
        <p:spPr>
          <a:xfrm>
            <a:off x="8732520" y="4745736"/>
            <a:ext cx="2679192" cy="457200"/>
          </a:xfrm>
          <a:prstGeom prst="rect">
            <a:avLst/>
          </a:prstGeom>
          <a:noFill/>
        </p:spPr>
        <p:txBody>
          <a:bodyPr wrap="square" lIns="0" rIns="0" tIns="0" bIns="0">
            <a:spAutoFit/>
          </a:bodyPr>
          <a:lstStyle/>
          <a:p>
            <a:pPr algn="ctr">
              <a:lnSpc>
                <a:spcPct val="112000"/>
              </a:lnSpc>
              <a:spcBef>
                <a:spcPts val="0"/>
              </a:spcBef>
              <a:spcAft>
                <a:spcPts val="500"/>
              </a:spcAft>
              <a:defRPr sz="2100" b="1">
                <a:solidFill>
                  <a:srgbClr val="183C31"/>
                </a:solidFill>
                <a:latin typeface="Noto Sans"/>
              </a:defRPr>
            </a:pPr>
            <a:r>
              <a:t>obihush.site</a:t>
            </a:r>
          </a:p>
        </p:txBody>
      </p:sp>
      <p:sp>
        <p:nvSpPr>
          <p:cNvPr id="425" name="TextBox 424"/>
          <p:cNvSpPr txBox="1"/>
          <p:nvPr/>
        </p:nvSpPr>
        <p:spPr>
          <a:xfrm>
            <a:off x="8714232" y="5276088"/>
            <a:ext cx="2715768" cy="228600"/>
          </a:xfrm>
          <a:prstGeom prst="rect">
            <a:avLst/>
          </a:prstGeom>
          <a:noFill/>
        </p:spPr>
        <p:txBody>
          <a:bodyPr wrap="square" lIns="0" rIns="0" tIns="0" bIns="0">
            <a:spAutoFit/>
          </a:bodyPr>
          <a:lstStyle/>
          <a:p>
            <a:pPr algn="ctr">
              <a:lnSpc>
                <a:spcPct val="112000"/>
              </a:lnSpc>
              <a:spcBef>
                <a:spcPts val="0"/>
              </a:spcBef>
              <a:spcAft>
                <a:spcPts val="500"/>
              </a:spcAft>
              <a:defRPr sz="1200" b="0">
                <a:solidFill>
                  <a:srgbClr val="203C32"/>
                </a:solidFill>
                <a:latin typeface="Noto Sans"/>
              </a:defRPr>
            </a:pPr>
            <a:r>
              <a:t>Ташаккур барои таваҷҷуҳ!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ОБҲУШ — Об. Обу ҳаво. Қарори дуруст.</dc:title>
  <dc:subject>Идеяи ман — калиди фардо · Номинатсияи 5</dc:subject>
  <dc:creator>ОБҲУШ</dc:creator>
  <cp:keywords>ОБҲУШ, Тоҷикистон, об, зеҳни сунъӣ, Canva</cp:keywords>
  <dc:description>Editable shapes and text. Real interface captures. Speaker notes in Tajik.</dc:description>
  <cp:lastModifiedBy>Steve Canny</cp:lastModifiedBy>
  <cp:revision>1</cp:revision>
  <dcterms:created xsi:type="dcterms:W3CDTF">2013-01-27T09:14:16Z</dcterms:created>
  <dcterms:modified xsi:type="dcterms:W3CDTF">2013-01-27T09:15:58Z</dcterms:modified>
  <cp:category/>
</cp:coreProperties>
</file>